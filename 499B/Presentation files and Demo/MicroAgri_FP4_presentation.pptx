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005840"/>
            <a:ext cx="4754880" cy="4754880"/>
          </a:xfrm>
          <a:prstGeom prst="ellipse">
            <a:avLst/>
          </a:prstGeom>
          <a:solidFill>
            <a:srgbClr val="14532D">
              <a:alpha val="85000"/>
            </a:srgbClr>
          </a:solidFill>
          <a:ln w="12700">
            <a:solidFill>
              <a:srgbClr val="1453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663440"/>
            <a:ext cx="2834640" cy="2834640"/>
          </a:xfrm>
          <a:prstGeom prst="ellipse">
            <a:avLst/>
          </a:prstGeom>
          <a:solidFill>
            <a:srgbClr val="166534">
              <a:alpha val="70000"/>
            </a:srgbClr>
          </a:solidFill>
          <a:ln w="12700">
            <a:solidFill>
              <a:srgbClr val="16653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5943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F3D0"/>
                </a:solidFill>
              </a:rPr>
              <a:t>CSE499B  |  Section: 12  |  Faculty: MSRB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MicroAgri-FP4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0574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9FFF1"/>
                </a:solidFill>
              </a:rPr>
              <a:t>On-Device Agricultural Disease Intelligence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9FFF1"/>
                </a:solidFill>
              </a:rPr>
              <a:t>via Microscaling FP4 Quantization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8096" y="3127248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FEBDD"/>
                </a:solidFill>
              </a:rPr>
              <a:t>Android app + KrishiBot web platform for offline plant disease detection, Bangla advisory, and community disease awareness.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FFADD"/>
                </a:solidFill>
              </a:rPr>
              <a:t>99.71%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13232" y="45445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Classifier accuracy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04288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FFADD"/>
                </a:solidFill>
              </a:rPr>
              <a:t>6.7×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304288" y="45445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Model compression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86200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FFADD"/>
                </a:solidFill>
              </a:rPr>
              <a:t>500+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886200" y="45445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KB documents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13248" y="4160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FFADD"/>
                </a:solidFill>
              </a:rPr>
              <a:t>100%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413248" y="45445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Offline after setup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" y="5349240"/>
            <a:ext cx="5897880" cy="987552"/>
          </a:xfrm>
          <a:prstGeom prst="roundRect">
            <a:avLst>
              <a:gd name="adj" fmla="val 7407"/>
            </a:avLst>
          </a:prstGeom>
          <a:solidFill>
            <a:srgbClr val="143B2B"/>
          </a:solidFill>
          <a:ln w="12700">
            <a:solidFill>
              <a:srgbClr val="2F5C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55229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F3D0"/>
                </a:solidFill>
              </a:rPr>
              <a:t>Team Members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9264" y="580644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Md. Mahamudul Hassan [2121379642]   •   Mueid Islam Arian [2121947642]   •   Md. Nafiz Un Nabi Ishan [2121346042]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178040" y="658368"/>
            <a:ext cx="4251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pic>
        <p:nvPicPr>
          <p:cNvPr id="21" name="Image 0" descr="/mnt/data/9f50b16e-9848-4eb0-b830-6a2b7ad67b99.png">    </p:cNvPr>
          <p:cNvPicPr>
            <a:picLocks noChangeAspect="1"/>
          </p:cNvPicPr>
          <p:nvPr/>
        </p:nvPicPr>
        <p:blipFill>
          <a:blip r:embed="rId1"/>
          <a:srcRect l="0" r="0" t="18305" b="18305"/>
          <a:stretch/>
        </p:blipFill>
        <p:spPr>
          <a:xfrm>
            <a:off x="7251192" y="731520"/>
            <a:ext cx="4105656" cy="149961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287768" y="2313432"/>
            <a:ext cx="4032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KrishiBot Chat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812280" y="2816352"/>
            <a:ext cx="2788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pic>
        <p:nvPicPr>
          <p:cNvPr id="24" name="Image 1" descr="/mnt/data/23a3b5a5-ba76-43ab-9992-59b759cde37a.png">    </p:cNvPr>
          <p:cNvPicPr>
            <a:picLocks noChangeAspect="1"/>
          </p:cNvPicPr>
          <p:nvPr/>
        </p:nvPicPr>
        <p:blipFill>
          <a:blip r:embed="rId2"/>
          <a:srcRect l="0" r="0" t="6594" b="6594"/>
          <a:stretch/>
        </p:blipFill>
        <p:spPr>
          <a:xfrm>
            <a:off x="6885432" y="2889504"/>
            <a:ext cx="2642616" cy="145389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22008" y="4425696"/>
            <a:ext cx="2569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Disease Analysis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9857232" y="2743200"/>
            <a:ext cx="1417320" cy="2514600"/>
          </a:xfrm>
          <a:prstGeom prst="roundRect">
            <a:avLst>
              <a:gd name="adj" fmla="val 11613"/>
            </a:avLst>
          </a:prstGeom>
          <a:solidFill>
            <a:srgbClr val="111827"/>
          </a:solidFill>
          <a:ln w="12700">
            <a:solidFill>
              <a:srgbClr val="0B0F1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939528" y="2871216"/>
            <a:ext cx="1252728" cy="2258568"/>
          </a:xfrm>
          <a:prstGeom prst="roundRect">
            <a:avLst>
              <a:gd name="adj" fmla="val 9489"/>
            </a:avLst>
          </a:prstGeom>
          <a:solidFill>
            <a:srgbClr val="F9FAFB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395814" y="2816352"/>
            <a:ext cx="340157" cy="64008"/>
          </a:xfrm>
          <a:prstGeom prst="roundRect">
            <a:avLst>
              <a:gd name="adj" fmla="val 4285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939528" y="2871216"/>
            <a:ext cx="1252728" cy="3200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058400" y="2971800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MicroAgri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10085832" y="3364992"/>
            <a:ext cx="960120" cy="123444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96144" y="3529584"/>
            <a:ext cx="502920" cy="50292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378440" y="3712464"/>
            <a:ext cx="310896" cy="-164592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533888" y="3712464"/>
            <a:ext cx="-256032" cy="18288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085832" y="47365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Late Blight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Tomato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10268712" y="4572000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378440" y="4645152"/>
            <a:ext cx="374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View Details</a:t>
            </a:r>
            <a:endParaRPr lang="en-US" sz="870" dirty="0"/>
          </a:p>
        </p:txBody>
      </p:sp>
      <p:sp>
        <p:nvSpPr>
          <p:cNvPr id="38" name="Text 34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ADD"/>
                </a:solidFill>
              </a:rPr>
              <a:t>MicroAgri-FP4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146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FADD"/>
                </a:solidFill>
              </a:rPr>
              <a:t>CSE499B • Section 12 • Faculty: MSRB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91F"/>
                </a:solidFill>
              </a:rPr>
              <a:t>Problem: farmers need fast diagnosis in the field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978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5C"/>
                </a:solidFill>
              </a:rPr>
              <a:t>Bangladesh farmers can often treat diseases if they identify them early enough.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60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2024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7627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91F"/>
                </a:solidFill>
              </a:rPr>
              <a:t>The bottleneck is not treatment — it is timely diagnosis.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26974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91F"/>
                </a:solidFill>
              </a:rPr>
              <a:t>• Limited access to agricultural experts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91F"/>
                </a:solidFill>
              </a:rPr>
              <a:t>• Internet is unreliable in rural fields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91F"/>
                </a:solidFill>
              </a:rPr>
              <a:t>• Most guidance is text-heavy and English-first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91F"/>
                </a:solidFill>
              </a:rPr>
              <a:t>• Disease spreads before advice arrives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5968" y="192024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450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16M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590288" y="28346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smallholder farmers in Bangladesh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90288" y="34564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C2626"/>
                </a:solidFill>
              </a:rPr>
              <a:t>20–30%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590288" y="38404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annual crop loss from diseases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90288" y="44622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9E0B"/>
                </a:solidFill>
              </a:rPr>
              <a:t>Low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590288" y="48463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connectivity + expert access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18704" y="192024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91F"/>
                </a:solidFill>
              </a:rPr>
              <a:t>Design Goals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2788920"/>
            <a:ext cx="274320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91F"/>
                </a:solidFill>
              </a:rPr>
              <a:t>• Offline-first operation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91F"/>
                </a:solidFill>
              </a:rPr>
              <a:t>• Runs on low-resource Android phone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91F"/>
                </a:solidFill>
              </a:rPr>
              <a:t>• Bangla voice input and output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91F"/>
                </a:solidFill>
              </a:rPr>
              <a:t>• Actionable treatment, not generic advice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291F"/>
                </a:solidFill>
              </a:rPr>
              <a:t>• Privacy-preserving local AI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ADD"/>
                </a:solidFill>
              </a:rPr>
              <a:t>MicroAgri-FP4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146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FADD"/>
                </a:solidFill>
              </a:rPr>
              <a:t>CSE499B • Section 12 • Faculty: MSRB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91F"/>
                </a:solidFill>
              </a:rPr>
              <a:t>Solution: two products, one agriculture AI ecosystem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978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5C"/>
                </a:solidFill>
              </a:rPr>
              <a:t>The Android app handles field diagnosis; KrishiBot provides deeper advisory and records.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60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74520"/>
            <a:ext cx="4800600" cy="4160520"/>
          </a:xfrm>
          <a:prstGeom prst="roundRect">
            <a:avLst>
              <a:gd name="adj" fmla="val 175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1488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221992"/>
            <a:ext cx="923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PRODUCT 01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051560" y="26700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91F"/>
                </a:solidFill>
              </a:rPr>
              <a:t>MicroAgri Android App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3246120"/>
            <a:ext cx="1234440" cy="21488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0B0F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5296" y="3374136"/>
            <a:ext cx="1069848" cy="1892808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12087" y="3319272"/>
            <a:ext cx="296266" cy="64008"/>
          </a:xfrm>
          <a:prstGeom prst="roundRect">
            <a:avLst>
              <a:gd name="adj" fmla="val 4285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5296" y="3374136"/>
            <a:ext cx="1069848" cy="3200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474720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MicroAgri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371600" y="3867912"/>
            <a:ext cx="777240" cy="12344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912" y="4032504"/>
            <a:ext cx="502920" cy="50292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4208" y="4215384"/>
            <a:ext cx="310896" cy="-164592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19656" y="4215384"/>
            <a:ext cx="-256032" cy="18288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52395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Late Blight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Tomato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54480" y="470916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4782312"/>
            <a:ext cx="192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View Details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514600" y="3246120"/>
            <a:ext cx="1234440" cy="21488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0B0F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96896" y="3374136"/>
            <a:ext cx="1069848" cy="1892808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83687" y="3319272"/>
            <a:ext cx="296266" cy="64008"/>
          </a:xfrm>
          <a:prstGeom prst="roundRect">
            <a:avLst>
              <a:gd name="adj" fmla="val 4285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96896" y="3374136"/>
            <a:ext cx="1069848" cy="3200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5768" y="3474720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MicroAgri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43200" y="40233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91F"/>
                </a:solidFill>
              </a:rPr>
              <a:t>বাংলায় বলুন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20924" y="4663440"/>
            <a:ext cx="621792" cy="6217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30652" y="486460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697480" y="55778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Voice Input + Output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86200" y="3246120"/>
            <a:ext cx="1234440" cy="21488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0B0F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68496" y="3374136"/>
            <a:ext cx="1069848" cy="1892808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55287" y="3319272"/>
            <a:ext cx="296266" cy="64008"/>
          </a:xfrm>
          <a:prstGeom prst="roundRect">
            <a:avLst>
              <a:gd name="adj" fmla="val 4285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68496" y="3374136"/>
            <a:ext cx="1069848" cy="3200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87368" y="3474720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MicroAgri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14800" y="39319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91F"/>
                </a:solidFill>
              </a:rPr>
              <a:t>Weather Risk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70248" y="4325112"/>
            <a:ext cx="466344" cy="49377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0248" y="4489704"/>
            <a:ext cx="466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HIGH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51206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3635C"/>
                </a:solidFill>
              </a:rPr>
              <a:t>24°C • 92% humidity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51560" y="56235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35C"/>
                </a:solidFill>
              </a:rPr>
              <a:t>Best for: real-time field diagnosis, zero-connectivity areas, low-literacy users.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37960" y="1874520"/>
            <a:ext cx="48006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12280" y="21488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22008" y="2221992"/>
            <a:ext cx="923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PRODUCT 02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6812280" y="26700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91F"/>
                </a:solidFill>
              </a:rPr>
              <a:t>KrishiBot Web Platform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6903720" y="32004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pic>
        <p:nvPicPr>
          <p:cNvPr id="48" name="Image 0" descr="/mnt/data/9f50b16e-9848-4eb0-b830-6a2b7ad67b99.png">    </p:cNvPr>
          <p:cNvPicPr>
            <a:picLocks noChangeAspect="1"/>
          </p:cNvPicPr>
          <p:nvPr/>
        </p:nvPicPr>
        <p:blipFill>
          <a:blip r:embed="rId1"/>
          <a:srcRect l="8907" r="8907" t="0" b="0"/>
          <a:stretch/>
        </p:blipFill>
        <p:spPr>
          <a:xfrm>
            <a:off x="6976872" y="3273552"/>
            <a:ext cx="1682496" cy="117957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013448" y="4535424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AI Chat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8915400" y="32004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pic>
        <p:nvPicPr>
          <p:cNvPr id="51" name="Image 1" descr="/mnt/data/23a3b5a5-ba76-43ab-9992-59b759cde37a.png">    </p:cNvPr>
          <p:cNvPicPr>
            <a:picLocks noChangeAspect="1"/>
          </p:cNvPicPr>
          <p:nvPr/>
        </p:nvPicPr>
        <p:blipFill>
          <a:blip r:embed="rId2"/>
          <a:srcRect l="4802" r="4802" t="0" b="0"/>
          <a:stretch/>
        </p:blipFill>
        <p:spPr>
          <a:xfrm>
            <a:off x="8988552" y="3273552"/>
            <a:ext cx="1682496" cy="1179576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9025128" y="4535424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Analyze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7909560" y="4983480"/>
            <a:ext cx="1828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pic>
        <p:nvPicPr>
          <p:cNvPr id="54" name="Image 2" descr="/mnt/data/78ec83b6-5a15-4c5a-94d8-e9aeee675a4d.png">    </p:cNvPr>
          <p:cNvPicPr>
            <a:picLocks noChangeAspect="1"/>
          </p:cNvPicPr>
          <p:nvPr/>
        </p:nvPicPr>
        <p:blipFill>
          <a:blip r:embed="rId3"/>
          <a:srcRect l="0" r="0" t="35735" b="35735"/>
          <a:stretch/>
        </p:blipFill>
        <p:spPr>
          <a:xfrm>
            <a:off x="7982712" y="5056632"/>
            <a:ext cx="1682496" cy="347472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8019288" y="548640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Advisory</a:t>
            </a:r>
            <a:endParaRPr lang="en-US" sz="850" dirty="0"/>
          </a:p>
        </p:txBody>
      </p:sp>
      <p:sp>
        <p:nvSpPr>
          <p:cNvPr id="56" name="Text 51"/>
          <p:cNvSpPr/>
          <p:nvPr/>
        </p:nvSpPr>
        <p:spPr>
          <a:xfrm>
            <a:off x="6812280" y="562356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3635C"/>
                </a:solidFill>
              </a:rPr>
              <a:t>Best for: extension officers, detailed analysis, PDFs, treatment calendar, and community reporting.</a:t>
            </a:r>
            <a:endParaRPr lang="en-US" sz="1150" dirty="0"/>
          </a:p>
        </p:txBody>
      </p:sp>
      <p:sp>
        <p:nvSpPr>
          <p:cNvPr id="57" name="Shape 52"/>
          <p:cNvSpPr/>
          <p:nvPr/>
        </p:nvSpPr>
        <p:spPr>
          <a:xfrm>
            <a:off x="5715000" y="3886200"/>
            <a:ext cx="68580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58" name="Text 53"/>
          <p:cNvSpPr/>
          <p:nvPr/>
        </p:nvSpPr>
        <p:spPr>
          <a:xfrm>
            <a:off x="5230368" y="416052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A34A"/>
                </a:solidFill>
              </a:rPr>
              <a:t>Shared disease intelligence</a:t>
            </a:r>
            <a:endParaRPr lang="en-US" sz="880" dirty="0"/>
          </a:p>
        </p:txBody>
      </p:sp>
      <p:sp>
        <p:nvSpPr>
          <p:cNvPr id="59" name="Text 54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ADD"/>
                </a:solidFill>
              </a:rPr>
              <a:t>MicroAgri-FP4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146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FADD"/>
                </a:solidFill>
              </a:rPr>
              <a:t>CSE499B • Section 12 • Faculty: MSRB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91F"/>
                </a:solidFill>
              </a:rPr>
              <a:t>System design: offline-first agricultural AI pipeline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978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5C"/>
                </a:solidFill>
              </a:rPr>
              <a:t>Both products share the same idea: local AI + trusted knowledge + optional community awareness.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60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65960"/>
            <a:ext cx="2057400" cy="3566160"/>
          </a:xfrm>
          <a:prstGeom prst="roundRect">
            <a:avLst>
              <a:gd name="adj" fmla="val 355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311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91F"/>
                </a:solidFill>
              </a:rPr>
              <a:t>MicroAgri App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32688" y="2788920"/>
            <a:ext cx="15544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90779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0291F"/>
                </a:solidFill>
              </a:rPr>
              <a:t>Camera / Gallery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932688" y="3447288"/>
            <a:ext cx="15544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56616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0291F"/>
                </a:solidFill>
              </a:rPr>
              <a:t>Bangla Voice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32688" y="4105656"/>
            <a:ext cx="15544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22452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10291F"/>
                </a:solidFill>
              </a:rPr>
              <a:t>Offline UI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383280" y="1783080"/>
            <a:ext cx="2286000" cy="3931920"/>
          </a:xfrm>
          <a:prstGeom prst="roundRect">
            <a:avLst>
              <a:gd name="adj" fmla="val 3200"/>
            </a:avLst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0574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91F"/>
                </a:solidFill>
              </a:rPr>
              <a:t>On-Device AI Core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2651760"/>
            <a:ext cx="160020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DeiT-Tiny FP4 classifier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MiniLM INT8 retriever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Qwen2.5-0.5B INT4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Whisper-tiny ONNX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Android TTS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199632" y="1783080"/>
            <a:ext cx="2331720" cy="3931920"/>
          </a:xfrm>
          <a:prstGeom prst="roundRect">
            <a:avLst>
              <a:gd name="adj" fmla="val 313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2057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91F"/>
                </a:solidFill>
              </a:rPr>
              <a:t>Knowledge + Storage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2651760"/>
            <a:ext cx="169164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500+ trusted documents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SQLite local records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Disease prototypes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Weather cache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91F"/>
                </a:solidFill>
              </a:rPr>
              <a:t>• Diagnosis history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9235440" y="1965960"/>
            <a:ext cx="2194560" cy="35661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22311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91F"/>
                </a:solidFill>
              </a:rPr>
              <a:t>KrishiBot Web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28048" y="2743200"/>
            <a:ext cx="16002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2852928"/>
            <a:ext cx="1463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Next.js Frontend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528048" y="3273552"/>
            <a:ext cx="16002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3383280"/>
            <a:ext cx="1463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FastAPI Backend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528048" y="3803904"/>
            <a:ext cx="16002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0" y="3913632"/>
            <a:ext cx="1463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Ollama + Qwen3B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528048" y="4334256"/>
            <a:ext cx="16002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4443984"/>
            <a:ext cx="1463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SQLite + Reports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0" y="3749040"/>
            <a:ext cx="5943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669280" y="3749040"/>
            <a:ext cx="50292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531352" y="3749040"/>
            <a:ext cx="658368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4400" y="5989320"/>
            <a:ext cx="10424160" cy="384048"/>
          </a:xfrm>
          <a:prstGeom prst="roundRect">
            <a:avLst>
              <a:gd name="adj" fmla="val 1904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6108192"/>
            <a:ext cx="9966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5803D"/>
                </a:solidFill>
              </a:rPr>
              <a:t>Design principle: farmer data stays local first; internet is only used for optional weather/community sync.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ADD"/>
                </a:solidFill>
              </a:rPr>
              <a:t>MicroAgri-FP4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146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FADD"/>
                </a:solidFill>
              </a:rPr>
              <a:t>CSE499B • Section 12 • Faculty: MSRB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91F"/>
                </a:solidFill>
              </a:rPr>
              <a:t>MicroAgri app: field diagnosis workflow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978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5C"/>
                </a:solidFill>
              </a:rPr>
              <a:t>A farmer scans a leaf, receives a disease result, listens in Bangla, and follows treatment advice.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60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pic>
        <p:nvPicPr>
          <p:cNvPr id="8" name="Image 0" descr="/mnt/data/a_detailed_high_resolution_conceptual_illustratio.png">    </p:cNvPr>
          <p:cNvPicPr>
            <a:picLocks noChangeAspect="1"/>
          </p:cNvPicPr>
          <p:nvPr/>
        </p:nvPicPr>
        <p:blipFill>
          <a:blip r:embed="rId1"/>
          <a:srcRect l="12994" r="12994" t="0" b="0"/>
          <a:stretch/>
        </p:blipFill>
        <p:spPr>
          <a:xfrm>
            <a:off x="685800" y="1920240"/>
            <a:ext cx="4389120" cy="3337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2120" y="192024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0136" y="2048256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33288" y="21214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72200" y="20574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Scan leaf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72200" y="230428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CameraX capture or gallery upload.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5532120" y="27432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0136" y="2871216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33288" y="294436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766E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72200" y="2880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Run classifier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172200" y="312724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FP4 DeiT-Tiny predicts from 15 disease classes on-device.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5532120" y="356616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0136" y="3694176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33288" y="37673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72200" y="3703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Retrieve advice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172200" y="395020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MiniLM searches trusted UC Davis IPM, BARI and FAO knowledge chunks.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5532120" y="438912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0136" y="4517136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33288" y="459028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172200" y="45262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Speak result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172200" y="477316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Bangla voice input/output reduces reading dependency.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8641080" y="192024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24544" y="22128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91F"/>
                </a:solidFill>
              </a:rPr>
              <a:t>Why it fits farmers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915400" y="2788920"/>
            <a:ext cx="19202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0291F"/>
                </a:solidFill>
              </a:rPr>
              <a:t>• No cloud dependency after setup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0291F"/>
                </a:solidFill>
              </a:rPr>
              <a:t>• Runs on mid-range Android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0291F"/>
                </a:solidFill>
              </a:rPr>
              <a:t>• Low data cost and private records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0291F"/>
                </a:solidFill>
              </a:rPr>
              <a:t>• Designed for Bangla interaction</a:t>
            </a:r>
            <a:endParaRPr lang="en-US" sz="1130" dirty="0"/>
          </a:p>
        </p:txBody>
      </p:sp>
      <p:sp>
        <p:nvSpPr>
          <p:cNvPr id="32" name="Text 29"/>
          <p:cNvSpPr/>
          <p:nvPr/>
        </p:nvSpPr>
        <p:spPr>
          <a:xfrm>
            <a:off x="9162288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5 sec</a:t>
            </a:r>
            <a:endParaRPr lang="en-US" sz="2300" dirty="0"/>
          </a:p>
        </p:txBody>
      </p:sp>
      <p:sp>
        <p:nvSpPr>
          <p:cNvPr id="33" name="Text 30"/>
          <p:cNvSpPr/>
          <p:nvPr/>
        </p:nvSpPr>
        <p:spPr>
          <a:xfrm>
            <a:off x="9162288" y="4910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target end-to-end flow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ADD"/>
                </a:solidFill>
              </a:rPr>
              <a:t>MicroAgri-FP4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146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FADD"/>
                </a:solidFill>
              </a:rPr>
              <a:t>CSE499B • Section 12 • Faculty: MSRB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91F"/>
                </a:solidFill>
              </a:rPr>
              <a:t>MicroAgri results: accuracy, compression, and device readiness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978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5C"/>
                </a:solidFill>
              </a:rPr>
              <a:t>The main contribution is preserving accuracy while shrinking the ViT model for mobile deployment.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60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38528"/>
            <a:ext cx="50749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12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91F"/>
                </a:solidFill>
              </a:rPr>
              <a:t>Key results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2651760"/>
            <a:ext cx="1508760" cy="420624"/>
          </a:xfrm>
          <a:prstGeom prst="rect">
            <a:avLst/>
          </a:prstGeom>
          <a:solidFill>
            <a:srgbClr val="0B241B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752344"/>
            <a:ext cx="1399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Metric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2468880" y="2651760"/>
            <a:ext cx="1508760" cy="420624"/>
          </a:xfrm>
          <a:prstGeom prst="rect">
            <a:avLst/>
          </a:prstGeom>
          <a:solidFill>
            <a:srgbClr val="0B241B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2752344"/>
            <a:ext cx="1399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Result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977640" y="2651760"/>
            <a:ext cx="1508760" cy="420624"/>
          </a:xfrm>
          <a:prstGeom prst="rect">
            <a:avLst/>
          </a:prstGeom>
          <a:solidFill>
            <a:srgbClr val="0B241B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32504" y="2752344"/>
            <a:ext cx="1399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Meaning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960120" y="3072384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3163824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Top-1 Accuracy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68880" y="3072384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3163824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99.71%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77640" y="3072384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32504" y="3163824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Reliable classifier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0120" y="3493008"/>
            <a:ext cx="150876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" y="3584448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Compression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68880" y="3493008"/>
            <a:ext cx="150876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3744" y="3584448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6.7×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77640" y="3493008"/>
            <a:ext cx="150876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2504" y="3584448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Mobile-friendly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60120" y="3913632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4984" y="4005072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Final Weights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68880" y="3913632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3744" y="4005072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3.17 MB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77640" y="3913632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32504" y="4005072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Loads in phone RAM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60120" y="4334256"/>
            <a:ext cx="150876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984" y="4425696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Knowledge Base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68880" y="4334256"/>
            <a:ext cx="150876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23744" y="4425696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500+ docs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77640" y="4334256"/>
            <a:ext cx="150876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32504" y="4425696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Grounded advice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60120" y="4754880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4984" y="4846320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Operation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68880" y="4754880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23744" y="4846320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Offline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977640" y="4754880"/>
            <a:ext cx="1508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32504" y="4846320"/>
            <a:ext cx="1399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Field usable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72200" y="1938528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2212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91F"/>
                </a:solidFill>
              </a:rPr>
              <a:t>Model size comparison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6629400" y="2971800"/>
            <a:ext cx="1828800" cy="1965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504748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35C"/>
                </a:solidFill>
              </a:rPr>
              <a:t>FP32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6537960" y="275234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91F"/>
                </a:solidFill>
              </a:rPr>
              <a:t>100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778240" y="4642866"/>
            <a:ext cx="1828800" cy="29489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0" y="504748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35C"/>
                </a:solidFill>
              </a:rPr>
              <a:t>FP4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8686800" y="442341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91F"/>
                </a:solidFill>
              </a:rPr>
              <a:t>15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29400" y="53218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3635C"/>
                </a:solidFill>
              </a:rPr>
              <a:t>Normalized size: FP4 is about 15% of the original model after 6.7× compression.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ADD"/>
                </a:solidFill>
              </a:rPr>
              <a:t>MicroAgri-FP4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146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FADD"/>
                </a:solidFill>
              </a:rPr>
              <a:t>CSE499B • Section 12 • Faculty: MSRB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91F"/>
                </a:solidFill>
              </a:rPr>
              <a:t>MicroAgri AI modules inside the app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978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5C"/>
                </a:solidFill>
              </a:rPr>
              <a:t>The app is more than a classifier: it combines vision, RAG, speech, weather and few-shot adaptation.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60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38528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66544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13969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20756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Vision Classifier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89888" y="23225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DeiT-Tiny ViT, NVFP4/MXFP4 quantized, ONNX Runtime + NNAPI.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49808" y="2889504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3017520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0906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766E"/>
                </a:solidFill>
              </a:rPr>
              <a:t>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30266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Retriever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89888" y="32735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MiniLM-L6-v2 INT8 searches a local 500+ document knowledge base.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749808" y="384048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3968496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04164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✍️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89888" y="3977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Generator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89888" y="42245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Qwen2.5-0.5B INT4 produces grounded treatment guidance.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80560" y="1938528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8576" y="2066544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213969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20756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Speech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0" y="23225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Whisper-tiny for Bangla ASR; Android TTS reads advice aloud.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480560" y="2889504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08576" y="3017520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30906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30266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Risk Engine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20640" y="32735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Weather cache converts humidity/temp into disease risk alerts.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4480560" y="384048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8576" y="3968496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404164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20640" y="3977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Few-Shot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20640" y="42245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3–10 examples create new disease prototypes stored in SQLite.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366760" y="1938528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2520" y="2240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91F"/>
                </a:solidFill>
              </a:rPr>
              <a:t>Performance target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1540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&lt;3s</a:t>
            </a:r>
            <a:endParaRPr lang="en-US" sz="2300" dirty="0"/>
          </a:p>
        </p:txBody>
      </p:sp>
      <p:sp>
        <p:nvSpPr>
          <p:cNvPr id="41" name="Text 39"/>
          <p:cNvSpPr/>
          <p:nvPr/>
        </p:nvSpPr>
        <p:spPr>
          <a:xfrm>
            <a:off x="8915400" y="3172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classifier inference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915400" y="3675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0 MB</a:t>
            </a:r>
            <a:endParaRPr lang="en-US" sz="2300" dirty="0"/>
          </a:p>
        </p:txBody>
      </p:sp>
      <p:sp>
        <p:nvSpPr>
          <p:cNvPr id="43" name="Text 41"/>
          <p:cNvSpPr/>
          <p:nvPr/>
        </p:nvSpPr>
        <p:spPr>
          <a:xfrm>
            <a:off x="8915400" y="40599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35C"/>
                </a:solidFill>
              </a:rPr>
              <a:t>server data needed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66760" y="48006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41080" y="50109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91F"/>
                </a:solidFill>
              </a:rPr>
              <a:t>Result: a practical Android tool for low-connectivity farming environments.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ADD"/>
                </a:solidFill>
              </a:rPr>
              <a:t>MicroAgri-FP4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146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FADD"/>
                </a:solidFill>
              </a:rPr>
              <a:t>CSE499B • Section 12 • Faculty: MSRB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91F"/>
                </a:solidFill>
              </a:rPr>
              <a:t>KrishiBot web platform: deeper advisory and reporting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978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5C"/>
                </a:solidFill>
              </a:rPr>
              <a:t>KrishiBot supports browser-based disease analysis, chat, advisory, PDF export and community reporting.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60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7452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pic>
        <p:nvPicPr>
          <p:cNvPr id="9" name="Image 0" descr="/mnt/data/23a3b5a5-ba76-43ab-9992-59b759cde37a.png">    </p:cNvPr>
          <p:cNvPicPr>
            <a:picLocks noChangeAspect="1"/>
          </p:cNvPicPr>
          <p:nvPr/>
        </p:nvPicPr>
        <p:blipFill>
          <a:blip r:embed="rId1"/>
          <a:srcRect l="8244" r="8244" t="0" b="0"/>
          <a:stretch/>
        </p:blipFill>
        <p:spPr>
          <a:xfrm>
            <a:off x="786384" y="1947672"/>
            <a:ext cx="3602736" cy="2734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764024"/>
            <a:ext cx="3529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Image-Based Disease Analysis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92040" y="1874520"/>
            <a:ext cx="2880360" cy="3154680"/>
          </a:xfrm>
          <a:prstGeom prst="roundRect">
            <a:avLst>
              <a:gd name="adj" fmla="val 254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30368" y="2148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91F"/>
                </a:solidFill>
              </a:rPr>
              <a:t>Main capabilities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257800" y="2697480"/>
            <a:ext cx="21488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0291F"/>
                </a:solidFill>
              </a:rPr>
              <a:t>• Qwen2.5 3B local chat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0291F"/>
                </a:solidFill>
              </a:rPr>
              <a:t>• Image upload + structured report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0291F"/>
                </a:solidFill>
              </a:rPr>
              <a:t>• Severity stage and symptoms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0291F"/>
                </a:solidFill>
              </a:rPr>
              <a:t>• 14-day treatment calendar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0291F"/>
                </a:solidFill>
              </a:rPr>
              <a:t>• Market-price viability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0291F"/>
                </a:solidFill>
              </a:rPr>
              <a:t>• PDF diagnosis report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0291F"/>
                </a:solidFill>
              </a:rPr>
              <a:t>• Community disease board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8183880" y="1874520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pic>
        <p:nvPicPr>
          <p:cNvPr id="15" name="Image 1" descr="/mnt/data/9f50b16e-9848-4eb0-b830-6a2b7ad67b99.png">    </p:cNvPr>
          <p:cNvPicPr>
            <a:picLocks noChangeAspect="1"/>
          </p:cNvPicPr>
          <p:nvPr/>
        </p:nvPicPr>
        <p:blipFill>
          <a:blip r:embed="rId2"/>
          <a:srcRect l="17336" r="17336" t="0" b="0"/>
          <a:stretch/>
        </p:blipFill>
        <p:spPr>
          <a:xfrm>
            <a:off x="8257032" y="1947672"/>
            <a:ext cx="3099816" cy="27340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93608" y="4764024"/>
            <a:ext cx="3026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Chat Assistant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ADD"/>
                </a:solidFill>
              </a:rPr>
              <a:t>MicroAgri-FP4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146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FADD"/>
                </a:solidFill>
              </a:rPr>
              <a:t>CSE499B • Section 12 • Faculty: MSRB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91F"/>
                </a:solidFill>
              </a:rPr>
              <a:t>KrishiBot results: response speed and feature evaluation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978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5C"/>
                </a:solidFill>
              </a:rPr>
              <a:t>The web platform was tested locally with Qwen2.5 3B served through Ollama.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60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48463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12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91F"/>
                </a:solidFill>
              </a:rPr>
              <a:t>Measured performance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2651760"/>
            <a:ext cx="2171700" cy="420624"/>
          </a:xfrm>
          <a:prstGeom prst="rect">
            <a:avLst/>
          </a:prstGeom>
          <a:solidFill>
            <a:srgbClr val="0B241B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752344"/>
            <a:ext cx="20619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Metric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131820" y="2651760"/>
            <a:ext cx="2171700" cy="420624"/>
          </a:xfrm>
          <a:prstGeom prst="rect">
            <a:avLst/>
          </a:prstGeom>
          <a:solidFill>
            <a:srgbClr val="0B241B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6684" y="2752344"/>
            <a:ext cx="20619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Result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60120" y="3072384"/>
            <a:ext cx="21717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163824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First chat token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131820" y="3072384"/>
            <a:ext cx="21717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6684" y="3163824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2–4 sec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60120" y="3493008"/>
            <a:ext cx="217170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3584448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Streaming speed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31820" y="3493008"/>
            <a:ext cx="217170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6684" y="3584448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15–25 tok/s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0120" y="3913632"/>
            <a:ext cx="21717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" y="4005072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Disease analysis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31820" y="3913632"/>
            <a:ext cx="21717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6684" y="4005072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8–15 sec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60120" y="4334256"/>
            <a:ext cx="217170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" y="4425696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Treatment calendar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31820" y="4334256"/>
            <a:ext cx="217170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6684" y="4425696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10–18 sec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60120" y="4754880"/>
            <a:ext cx="21717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4846320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PDF generation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31820" y="4754880"/>
            <a:ext cx="21717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6684" y="4846320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&lt;1 sec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60120" y="5175504"/>
            <a:ext cx="217170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984" y="5266944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RAM usage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131820" y="5175504"/>
            <a:ext cx="2171700" cy="420624"/>
          </a:xfrm>
          <a:prstGeom prst="rect">
            <a:avLst/>
          </a:prstGeom>
          <a:solidFill>
            <a:srgbClr val="F8FAF8"/>
          </a:solidFill>
          <a:ln w="6350">
            <a:solidFill>
              <a:srgbClr val="D7E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86684" y="5266944"/>
            <a:ext cx="20619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91F"/>
                </a:solidFill>
              </a:rPr>
              <a:t>~3.5–4 GB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80760" y="192024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2128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91F"/>
                </a:solidFill>
              </a:rPr>
              <a:t>Speed comparison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492240" y="4709160"/>
            <a:ext cx="78867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910328"/>
            <a:ext cx="971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35C"/>
                </a:solidFill>
              </a:rPr>
              <a:t>PDF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6400800" y="4489704"/>
            <a:ext cx="971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91F"/>
                </a:solidFill>
              </a:rPr>
              <a:t>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600950" y="4434840"/>
            <a:ext cx="78867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09510" y="4910328"/>
            <a:ext cx="971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35C"/>
                </a:solidFill>
              </a:rPr>
              <a:t>Chat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7509510" y="4215384"/>
            <a:ext cx="971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91F"/>
                </a:solidFill>
              </a:rPr>
              <a:t>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709660" y="3429000"/>
            <a:ext cx="78867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8220" y="4910328"/>
            <a:ext cx="971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35C"/>
                </a:solidFill>
              </a:rPr>
              <a:t>Analysis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8618220" y="3209544"/>
            <a:ext cx="971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91F"/>
                </a:solidFill>
              </a:rPr>
              <a:t>15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818370" y="3154680"/>
            <a:ext cx="788670" cy="1645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26930" y="4910328"/>
            <a:ext cx="971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35C"/>
                </a:solidFill>
              </a:rPr>
              <a:t>Calendar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9726930" y="2935224"/>
            <a:ext cx="971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91F"/>
                </a:solidFill>
              </a:rPr>
              <a:t>18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629400" y="51937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3635C"/>
                </a:solidFill>
              </a:rPr>
              <a:t>Lower is faster. PDF export is immediate; AI generation takes longer but remains usable for advisory workflows.</a:t>
            </a:r>
            <a:endParaRPr lang="en-US" sz="1040" dirty="0"/>
          </a:p>
        </p:txBody>
      </p:sp>
      <p:sp>
        <p:nvSpPr>
          <p:cNvPr id="53" name="Text 51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463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ADD"/>
                </a:solidFill>
              </a:rPr>
              <a:t>MicroAgri-FP4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549640" y="146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FADD"/>
                </a:solidFill>
              </a:rPr>
              <a:t>CSE499B • Section 12 • Faculty: MSRB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7498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91F"/>
                </a:solidFill>
              </a:rPr>
              <a:t>KrishiBot modules: organized for real farming decisions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9786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35C"/>
                </a:solidFill>
              </a:rPr>
              <a:t>The web platform turns diagnosis into action: risk, treatment, cost and community awareness.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960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7452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pic>
        <p:nvPicPr>
          <p:cNvPr id="9" name="Image 0" descr="/mnt/data/78ec83b6-5a15-4c5a-94d8-e9aeee675a4d.png">    </p:cNvPr>
          <p:cNvPicPr>
            <a:picLocks noChangeAspect="1"/>
          </p:cNvPicPr>
          <p:nvPr/>
        </p:nvPicPr>
        <p:blipFill>
          <a:blip r:embed="rId1"/>
          <a:srcRect l="0" r="0" t="1292" b="1292"/>
          <a:stretch/>
        </p:blipFill>
        <p:spPr>
          <a:xfrm>
            <a:off x="786384" y="1947672"/>
            <a:ext cx="3877056" cy="2734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764024"/>
            <a:ext cx="3803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291F"/>
                </a:solidFill>
              </a:rPr>
              <a:t>Crop Advisory + Weather Risk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257800" y="192024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85816" y="2048256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58968" y="212140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🌤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97880" y="20574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Weather Risk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97880" y="2304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High humidity + cool temperature triggers late blight alerts; rainfall raises fungal risk.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5257800" y="2852928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85816" y="2980944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58968" y="305409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A34A"/>
                </a:solidFill>
              </a:rPr>
              <a:t>📅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97880" y="29900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Treatment Calendar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897880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Positive diagnosis automatically generates a 14-day spray and care schedule.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5257800" y="3785616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85816" y="3913632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58968" y="398678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766E"/>
                </a:solidFill>
              </a:rPr>
              <a:t>💰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897880" y="39227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Market Context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897880" y="4169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Compares crop value, likely yield loss and treatment cost before recommending action.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5257800" y="4718304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4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85816" y="4846320"/>
            <a:ext cx="393192" cy="393192"/>
          </a:xfrm>
          <a:prstGeom prst="roundRect">
            <a:avLst>
              <a:gd name="adj" fmla="val 18605"/>
            </a:avLst>
          </a:prstGeom>
          <a:solidFill>
            <a:srgbClr val="DFF7E8"/>
          </a:solidFill>
          <a:ln w="12700">
            <a:solidFill>
              <a:srgbClr val="DFF7E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58968" y="49194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👥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897880" y="48554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91F"/>
                </a:solidFill>
              </a:rPr>
              <a:t>Community Board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897880" y="5102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35C"/>
                </a:solidFill>
              </a:rPr>
              <a:t>Anonymous disease reports help farmers and officers see outbreak patterns by division.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8595360" y="19202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61120" y="22402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91F"/>
                </a:solidFill>
              </a:rPr>
              <a:t>Trusted sources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942832" y="2761488"/>
            <a:ext cx="18288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91F"/>
                </a:solidFill>
              </a:rPr>
              <a:t>• UC Davis IPM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91F"/>
                </a:solidFill>
              </a:rPr>
              <a:t>• BARI knowledge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91F"/>
                </a:solidFill>
              </a:rPr>
              <a:t>• FAO guidance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91F"/>
                </a:solidFill>
              </a:rPr>
              <a:t>• Open-Meteo weather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91F"/>
                </a:solidFill>
              </a:rPr>
              <a:t>• Local SQLite records</a:t>
            </a:r>
            <a:endParaRPr lang="en-US" sz="1120" dirty="0"/>
          </a:p>
        </p:txBody>
      </p:sp>
      <p:sp>
        <p:nvSpPr>
          <p:cNvPr id="34" name="Shape 31"/>
          <p:cNvSpPr/>
          <p:nvPr/>
        </p:nvSpPr>
        <p:spPr>
          <a:xfrm>
            <a:off x="8961120" y="489204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98280" y="5020056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Local AI + practical advice</a:t>
            </a:r>
            <a:endParaRPr lang="en-US" sz="920" dirty="0"/>
          </a:p>
        </p:txBody>
      </p:sp>
      <p:sp>
        <p:nvSpPr>
          <p:cNvPr id="36" name="Text 33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1B"/>
          </a:solidFill>
          <a:ln w="12700">
            <a:solidFill>
              <a:srgbClr val="0B24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31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04672" y="14813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CFCE7"/>
                </a:solidFill>
              </a:rPr>
              <a:t>MicroAgri-FP4 shows that agricultural AI can be accurate, offline, low-cost and practical for Bangladeshi smallholder farmers.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242316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143B2B"/>
          </a:solidFill>
          <a:ln w="12700">
            <a:solidFill>
              <a:srgbClr val="2F5C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Impact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24688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Early diagnosis can reduce crop loss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Bangla voice makes guidance accessible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Offline AI protects privacy and cuts cost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Community reporting improves awareness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4480560" y="242316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143B2B"/>
          </a:solidFill>
          <a:ln w="12700">
            <a:solidFill>
              <a:srgbClr val="2F5C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2697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Research contribution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73168" y="3154680"/>
            <a:ext cx="25146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First FP4 study applied to ViT in this project context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6.7× compression with 99.71% accuracy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3.17 MB weights enable mobile deployment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8119872" y="242316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143B2B"/>
          </a:solidFill>
          <a:ln w="12700">
            <a:solidFill>
              <a:srgbClr val="2F5C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697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0" y="3154680"/>
            <a:ext cx="248716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More crops and disease classes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GradCAM heatmap for explainability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GPS outbreak map and live market prices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9FFF1"/>
                </a:solidFill>
              </a:rPr>
              <a:t>• Federated learning for updates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2148840" y="5715000"/>
            <a:ext cx="7909560" cy="493776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5888736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Empowering farmers. Strengthening food security. Building smarter agriculture.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93424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82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CSE499B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MicroAgri-FP4 Final Presentation</dc:title>
  <dc:subject>MicroAgri-FP4 final presentation</dc:subject>
  <dc:creator>OpenAI</dc:creator>
  <cp:lastModifiedBy>OpenAI</cp:lastModifiedBy>
  <cp:revision>1</cp:revision>
  <dcterms:created xsi:type="dcterms:W3CDTF">2026-04-28T18:44:19Z</dcterms:created>
  <dcterms:modified xsi:type="dcterms:W3CDTF">2026-04-28T18:44:19Z</dcterms:modified>
</cp:coreProperties>
</file>