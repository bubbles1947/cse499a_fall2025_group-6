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Jersey 15" charset="-122" pitchFamily="34"/>
      <p:regular r:id="rId17"/>
    </p:embeddedFont>
    <p:embeddedFont>
      <p:font typeface="Noto Sans SC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icertswpcdn.blob.core.windows.net/b4c43a4d16d70061d3a64803fd4b95e57554b20c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47" r="347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516017" y="471488"/>
            <a:ext cx="1162050" cy="457200"/>
          </a:xfrm>
          <a:custGeom>
            <a:avLst/>
            <a:gdLst/>
            <a:ahLst/>
            <a:cxnLst/>
            <a:rect l="l" t="t" r="r" b="b"/>
            <a:pathLst>
              <a:path w="1162050" h="457200">
                <a:moveTo>
                  <a:pt x="0" y="0"/>
                </a:moveTo>
                <a:lnTo>
                  <a:pt x="1162050" y="0"/>
                </a:lnTo>
                <a:lnTo>
                  <a:pt x="11620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58867" y="471488"/>
            <a:ext cx="1276350" cy="4572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GROUP-6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83843" y="1462088"/>
            <a:ext cx="64198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Neural Network Quantization,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MR-GPTQ Algorithms,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&amp; Edge Device Deployment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11885" y="5338763"/>
            <a:ext cx="1562100" cy="1028700"/>
          </a:xfrm>
          <a:custGeom>
            <a:avLst/>
            <a:gdLst/>
            <a:ahLst/>
            <a:cxnLst/>
            <a:rect l="l" t="t" r="r" b="b"/>
            <a:pathLst>
              <a:path w="1562100" h="1028700">
                <a:moveTo>
                  <a:pt x="0" y="0"/>
                </a:moveTo>
                <a:lnTo>
                  <a:pt x="1562100" y="0"/>
                </a:lnTo>
                <a:lnTo>
                  <a:pt x="1562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11910" y="5586413"/>
            <a:ext cx="1162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Md. Mahamudul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Hasan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15545" y="5338763"/>
            <a:ext cx="1562100" cy="1028700"/>
          </a:xfrm>
          <a:custGeom>
            <a:avLst/>
            <a:gdLst/>
            <a:ahLst/>
            <a:cxnLst/>
            <a:rect l="l" t="t" r="r" b="b"/>
            <a:pathLst>
              <a:path w="1562100" h="1028700">
                <a:moveTo>
                  <a:pt x="0" y="0"/>
                </a:moveTo>
                <a:lnTo>
                  <a:pt x="1562100" y="0"/>
                </a:lnTo>
                <a:lnTo>
                  <a:pt x="1562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15570" y="5586413"/>
            <a:ext cx="1162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Mueid Islam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Arian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19206" y="5338763"/>
            <a:ext cx="1562100" cy="1028700"/>
          </a:xfrm>
          <a:custGeom>
            <a:avLst/>
            <a:gdLst/>
            <a:ahLst/>
            <a:cxnLst/>
            <a:rect l="l" t="t" r="r" b="b"/>
            <a:pathLst>
              <a:path w="1562100" h="1028700">
                <a:moveTo>
                  <a:pt x="0" y="0"/>
                </a:moveTo>
                <a:lnTo>
                  <a:pt x="1562100" y="0"/>
                </a:lnTo>
                <a:lnTo>
                  <a:pt x="1562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19231" y="5586413"/>
            <a:ext cx="1162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Nafiz Un Nabi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Ishan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809625" cy="419100"/>
          </a:xfrm>
          <a:custGeom>
            <a:avLst/>
            <a:gdLst/>
            <a:ahLst/>
            <a:cxnLst/>
            <a:rect l="l" t="t" r="r" b="b"/>
            <a:pathLst>
              <a:path w="809625" h="419100">
                <a:moveTo>
                  <a:pt x="0" y="0"/>
                </a:moveTo>
                <a:lnTo>
                  <a:pt x="809625" y="0"/>
                </a:lnTo>
                <a:lnTo>
                  <a:pt x="8096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81000"/>
            <a:ext cx="904875" cy="4191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AGENDA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We'll Cover Today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6573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1500" y="1847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514350" y="18478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82880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is Neural Network Quantization?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9550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fundamental concept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6573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8900" y="18478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3" name="Text 11"/>
          <p:cNvSpPr/>
          <p:nvPr/>
        </p:nvSpPr>
        <p:spPr>
          <a:xfrm>
            <a:off x="6381750" y="18478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0" y="1828800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Quantization Methods 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20955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PTQ &amp; QAT approaches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6860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1500" y="287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8" name="Text 16"/>
          <p:cNvSpPr/>
          <p:nvPr/>
        </p:nvSpPr>
        <p:spPr>
          <a:xfrm>
            <a:off x="514350" y="28765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28575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 Quantization Matters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3124200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Deployment challenges &amp; benefits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7450" y="26860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8900" y="2876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3" name="Text 21"/>
          <p:cNvSpPr/>
          <p:nvPr/>
        </p:nvSpPr>
        <p:spPr>
          <a:xfrm>
            <a:off x="6381750" y="28765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8500" y="28575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is MR-GPTQ?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8500" y="312420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Microscaling FP4 formats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37147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1500" y="3905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8" name="Text 26"/>
          <p:cNvSpPr/>
          <p:nvPr/>
        </p:nvSpPr>
        <p:spPr>
          <a:xfrm>
            <a:off x="514350" y="39052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1100" y="38862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MR-GPTQ Works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1100" y="41529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Three key innovations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7450" y="37147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38900" y="3905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3" name="Text 31"/>
          <p:cNvSpPr/>
          <p:nvPr/>
        </p:nvSpPr>
        <p:spPr>
          <a:xfrm>
            <a:off x="6381750" y="39052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48500" y="388620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 MR-GPTQ is Revolutionary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8500" y="4152900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Format-aware paradigm shift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47434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1500" y="4933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8" name="Text 36"/>
          <p:cNvSpPr/>
          <p:nvPr/>
        </p:nvSpPr>
        <p:spPr>
          <a:xfrm>
            <a:off x="514350" y="49339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1100" y="49149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Edge Deployment Strategies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1100" y="51816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Hardware platforms &amp; frameworks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67450" y="47434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38900" y="4933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0" y="49339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48500" y="49149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48500" y="518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Agricultural monitoring &amp; more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0050" y="57721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71500" y="5962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8" name="Text 46"/>
          <p:cNvSpPr/>
          <p:nvPr/>
        </p:nvSpPr>
        <p:spPr>
          <a:xfrm>
            <a:off x="514350" y="59626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81100" y="59436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Research Gaps &amp; Future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81100" y="6210300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 challenges ahead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67450" y="5772150"/>
            <a:ext cx="5524500" cy="838200"/>
          </a:xfrm>
          <a:custGeom>
            <a:avLst/>
            <a:gdLst/>
            <a:ahLst/>
            <a:cxnLst/>
            <a:rect l="l" t="t" r="r" b="b"/>
            <a:pathLst>
              <a:path w="5524500" h="838200">
                <a:moveTo>
                  <a:pt x="0" y="0"/>
                </a:moveTo>
                <a:lnTo>
                  <a:pt x="5524500" y="0"/>
                </a:lnTo>
                <a:lnTo>
                  <a:pt x="55245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38900" y="5962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3" name="Text 51"/>
          <p:cNvSpPr/>
          <p:nvPr/>
        </p:nvSpPr>
        <p:spPr>
          <a:xfrm>
            <a:off x="6381750" y="596265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48500" y="59436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048500" y="62103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takeaways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676275" cy="419100"/>
          </a:xfrm>
          <a:custGeom>
            <a:avLst/>
            <a:gdLst/>
            <a:ahLst/>
            <a:cxnLst/>
            <a:rect l="l" t="t" r="r" b="b"/>
            <a:pathLst>
              <a:path w="676275" h="419100">
                <a:moveTo>
                  <a:pt x="0" y="0"/>
                </a:moveTo>
                <a:lnTo>
                  <a:pt x="676275" y="0"/>
                </a:lnTo>
                <a:lnTo>
                  <a:pt x="6762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81000"/>
            <a:ext cx="771525" cy="4191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is Neural Network Quantization?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504950"/>
            <a:ext cx="5562600" cy="2400300"/>
          </a:xfrm>
          <a:custGeom>
            <a:avLst/>
            <a:gdLst/>
            <a:ahLst/>
            <a:cxnLst/>
            <a:rect l="l" t="t" r="r" b="b"/>
            <a:pathLst>
              <a:path w="5562600" h="2400300">
                <a:moveTo>
                  <a:pt x="0" y="0"/>
                </a:moveTo>
                <a:lnTo>
                  <a:pt x="5562600" y="0"/>
                </a:lnTo>
                <a:lnTo>
                  <a:pt x="55626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7145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Core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522922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Quantization is a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compression technique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reduces the numerical precision of neural network weights and activations from high-precision formats (32-bit or 16-bit floating-point) to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lower bit-widths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(8-bit or 4-bit).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083719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Think of it like converting a high-resolution photo to a smaller file size—you keep the essential information while reducing storage and processing requirements.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4095750"/>
            <a:ext cx="5562600" cy="2362200"/>
          </a:xfrm>
          <a:custGeom>
            <a:avLst/>
            <a:gdLst/>
            <a:ahLst/>
            <a:cxnLst/>
            <a:rect l="l" t="t" r="r" b="b"/>
            <a:pathLst>
              <a:path w="5562600" h="2362200">
                <a:moveTo>
                  <a:pt x="0" y="0"/>
                </a:moveTo>
                <a:lnTo>
                  <a:pt x="5562600" y="0"/>
                </a:lnTo>
                <a:lnTo>
                  <a:pt x="5562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9600" y="43053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Uniform Affine Quantization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125" y="47339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0" y="0"/>
                </a:moveTo>
                <a:lnTo>
                  <a:pt x="5124450" y="0"/>
                </a:lnTo>
                <a:lnTo>
                  <a:pt x="51244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325" y="4857750"/>
            <a:ext cx="4972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A7F0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Q(w) = s · clamp(round(w/s + z), 0, 2^b - 1) - z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" y="5648325"/>
            <a:ext cx="1619250" cy="590550"/>
          </a:xfrm>
          <a:custGeom>
            <a:avLst/>
            <a:gdLst/>
            <a:ahLst/>
            <a:cxnLst/>
            <a:rect l="l" t="t" r="r" b="b"/>
            <a:pathLst>
              <a:path w="1619250" h="590550">
                <a:moveTo>
                  <a:pt x="0" y="0"/>
                </a:moveTo>
                <a:lnTo>
                  <a:pt x="1619250" y="0"/>
                </a:lnTo>
                <a:lnTo>
                  <a:pt x="16192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750" y="57340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1513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Scale Factor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371725" y="5648325"/>
            <a:ext cx="1619250" cy="590550"/>
          </a:xfrm>
          <a:custGeom>
            <a:avLst/>
            <a:gdLst/>
            <a:ahLst/>
            <a:cxnLst/>
            <a:rect l="l" t="t" r="r" b="b"/>
            <a:pathLst>
              <a:path w="1619250" h="590550">
                <a:moveTo>
                  <a:pt x="0" y="0"/>
                </a:moveTo>
                <a:lnTo>
                  <a:pt x="1619250" y="0"/>
                </a:lnTo>
                <a:lnTo>
                  <a:pt x="16192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19350" y="57340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4113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Zero-Point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24325" y="5648325"/>
            <a:ext cx="1619250" cy="590550"/>
          </a:xfrm>
          <a:custGeom>
            <a:avLst/>
            <a:gdLst/>
            <a:ahLst/>
            <a:cxnLst/>
            <a:rect l="l" t="t" r="r" b="b"/>
            <a:pathLst>
              <a:path w="1619250" h="590550">
                <a:moveTo>
                  <a:pt x="0" y="0"/>
                </a:moveTo>
                <a:lnTo>
                  <a:pt x="1619250" y="0"/>
                </a:lnTo>
                <a:lnTo>
                  <a:pt x="16192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1950" y="573405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76712" y="596265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Bit-Width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504950"/>
            <a:ext cx="5562600" cy="2781300"/>
          </a:xfrm>
          <a:custGeom>
            <a:avLst/>
            <a:gdLst/>
            <a:ahLst/>
            <a:cxnLst/>
            <a:rect l="l" t="t" r="r" b="b"/>
            <a:pathLst>
              <a:path w="5562600" h="2781300">
                <a:moveTo>
                  <a:pt x="0" y="0"/>
                </a:moveTo>
                <a:lnTo>
                  <a:pt x="5562600" y="0"/>
                </a:lnTo>
                <a:lnTo>
                  <a:pt x="5562600" y="2781300"/>
                </a:lnTo>
                <a:lnTo>
                  <a:pt x="0" y="27813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38900" y="17145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890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1336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2133600"/>
            <a:ext cx="413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Preserves Network Topology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2400300"/>
            <a:ext cx="4124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Unlike pruning, quantization keeps the original network structure intact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8900" y="274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743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274320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Reduces Memory Footprint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3009900"/>
            <a:ext cx="311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reduction with INT8, 8x with INT4 compared to FP32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8900" y="335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3528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0" y="3352800"/>
            <a:ext cx="3924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Enables Hardware Acceleration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3619500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Lower precision allows faster computation on specialized hardware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29350" y="4476750"/>
            <a:ext cx="5562600" cy="1981200"/>
          </a:xfrm>
          <a:custGeom>
            <a:avLst/>
            <a:gdLst/>
            <a:ahLst/>
            <a:cxnLst/>
            <a:rect l="l" t="t" r="r" b="b"/>
            <a:pathLst>
              <a:path w="5562600" h="1981200">
                <a:moveTo>
                  <a:pt x="0" y="0"/>
                </a:moveTo>
                <a:lnTo>
                  <a:pt x="5562600" y="0"/>
                </a:lnTo>
                <a:lnTo>
                  <a:pt x="5562600" y="1981200"/>
                </a:lnTo>
                <a:lnTo>
                  <a:pt x="0" y="19812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38900" y="46863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Precision Comparison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8900" y="51054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FP32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67600" y="5105400"/>
            <a:ext cx="3390900" cy="228600"/>
          </a:xfrm>
          <a:custGeom>
            <a:avLst/>
            <a:gdLst/>
            <a:ahLst/>
            <a:cxnLst/>
            <a:rect l="l" t="t" r="r" b="b"/>
            <a:pathLst>
              <a:path w="3390900" h="228600">
                <a:moveTo>
                  <a:pt x="0" y="0"/>
                </a:moveTo>
                <a:lnTo>
                  <a:pt x="3390900" y="0"/>
                </a:lnTo>
                <a:lnTo>
                  <a:pt x="3390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7467600" y="5105400"/>
            <a:ext cx="3390900" cy="228600"/>
          </a:xfrm>
          <a:custGeom>
            <a:avLst/>
            <a:gdLst/>
            <a:ahLst/>
            <a:cxnLst/>
            <a:rect l="l" t="t" r="r" b="b"/>
            <a:pathLst>
              <a:path w="3390900" h="228600">
                <a:moveTo>
                  <a:pt x="0" y="0"/>
                </a:moveTo>
                <a:lnTo>
                  <a:pt x="3390900" y="0"/>
                </a:lnTo>
                <a:lnTo>
                  <a:pt x="3390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2" name="Text 40"/>
          <p:cNvSpPr/>
          <p:nvPr/>
        </p:nvSpPr>
        <p:spPr>
          <a:xfrm>
            <a:off x="10896600" y="51054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32 bits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8900" y="54102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FP16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67600" y="5410200"/>
            <a:ext cx="3390900" cy="228600"/>
          </a:xfrm>
          <a:custGeom>
            <a:avLst/>
            <a:gdLst/>
            <a:ahLst/>
            <a:cxnLst/>
            <a:rect l="l" t="t" r="r" b="b"/>
            <a:pathLst>
              <a:path w="3390900" h="228600">
                <a:moveTo>
                  <a:pt x="0" y="0"/>
                </a:moveTo>
                <a:lnTo>
                  <a:pt x="3390900" y="0"/>
                </a:lnTo>
                <a:lnTo>
                  <a:pt x="3390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7467600" y="5410200"/>
            <a:ext cx="1695450" cy="228600"/>
          </a:xfrm>
          <a:custGeom>
            <a:avLst/>
            <a:gdLst/>
            <a:ahLst/>
            <a:cxnLst/>
            <a:rect l="l" t="t" r="r" b="b"/>
            <a:pathLst>
              <a:path w="1695450" h="228600">
                <a:moveTo>
                  <a:pt x="0" y="0"/>
                </a:moveTo>
                <a:lnTo>
                  <a:pt x="1695450" y="0"/>
                </a:lnTo>
                <a:lnTo>
                  <a:pt x="169545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6" name="Text 44"/>
          <p:cNvSpPr/>
          <p:nvPr/>
        </p:nvSpPr>
        <p:spPr>
          <a:xfrm>
            <a:off x="10896600" y="54102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16 bits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38900" y="57150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INT8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67600" y="5715000"/>
            <a:ext cx="3390900" cy="228600"/>
          </a:xfrm>
          <a:custGeom>
            <a:avLst/>
            <a:gdLst/>
            <a:ahLst/>
            <a:cxnLst/>
            <a:rect l="l" t="t" r="r" b="b"/>
            <a:pathLst>
              <a:path w="3390900" h="228600">
                <a:moveTo>
                  <a:pt x="0" y="0"/>
                </a:moveTo>
                <a:lnTo>
                  <a:pt x="3390900" y="0"/>
                </a:lnTo>
                <a:lnTo>
                  <a:pt x="3390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7467600" y="5715000"/>
            <a:ext cx="847725" cy="228600"/>
          </a:xfrm>
          <a:custGeom>
            <a:avLst/>
            <a:gdLst/>
            <a:ahLst/>
            <a:cxnLst/>
            <a:rect l="l" t="t" r="r" b="b"/>
            <a:pathLst>
              <a:path w="847725" h="228600">
                <a:moveTo>
                  <a:pt x="0" y="0"/>
                </a:moveTo>
                <a:lnTo>
                  <a:pt x="847725" y="0"/>
                </a:lnTo>
                <a:lnTo>
                  <a:pt x="8477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0" name="Text 48"/>
          <p:cNvSpPr/>
          <p:nvPr/>
        </p:nvSpPr>
        <p:spPr>
          <a:xfrm>
            <a:off x="10896600" y="57150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8 bits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38900" y="60198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INT4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67600" y="6019800"/>
            <a:ext cx="3390900" cy="228600"/>
          </a:xfrm>
          <a:custGeom>
            <a:avLst/>
            <a:gdLst/>
            <a:ahLst/>
            <a:cxnLst/>
            <a:rect l="l" t="t" r="r" b="b"/>
            <a:pathLst>
              <a:path w="3390900" h="228600">
                <a:moveTo>
                  <a:pt x="0" y="0"/>
                </a:moveTo>
                <a:lnTo>
                  <a:pt x="3390900" y="0"/>
                </a:lnTo>
                <a:lnTo>
                  <a:pt x="33909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7467600" y="6019800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0" y="0"/>
                </a:moveTo>
                <a:lnTo>
                  <a:pt x="428625" y="0"/>
                </a:lnTo>
                <a:lnTo>
                  <a:pt x="4286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4" name="Text 52"/>
          <p:cNvSpPr/>
          <p:nvPr/>
        </p:nvSpPr>
        <p:spPr>
          <a:xfrm>
            <a:off x="10896600" y="60198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 bits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496"/>
          </a:xfrm>
          <a:custGeom>
            <a:avLst/>
            <a:gdLst/>
            <a:ahLst/>
            <a:cxnLst/>
            <a:rect l="l" t="t" r="r" b="b"/>
            <a:pathLst>
              <a:path w="12192000" h="6857496">
                <a:moveTo>
                  <a:pt x="0" y="0"/>
                </a:moveTo>
                <a:lnTo>
                  <a:pt x="12192000" y="0"/>
                </a:lnTo>
                <a:lnTo>
                  <a:pt x="12192000" y="6857496"/>
                </a:lnTo>
                <a:lnTo>
                  <a:pt x="0" y="685749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22327" y="322327"/>
            <a:ext cx="499606" cy="354559"/>
          </a:xfrm>
          <a:custGeom>
            <a:avLst/>
            <a:gdLst/>
            <a:ahLst/>
            <a:cxnLst/>
            <a:rect l="l" t="t" r="r" b="b"/>
            <a:pathLst>
              <a:path w="499606" h="354559">
                <a:moveTo>
                  <a:pt x="0" y="0"/>
                </a:moveTo>
                <a:lnTo>
                  <a:pt x="499606" y="0"/>
                </a:lnTo>
                <a:lnTo>
                  <a:pt x="499606" y="354559"/>
                </a:lnTo>
                <a:lnTo>
                  <a:pt x="0" y="354559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22327" y="322327"/>
            <a:ext cx="580188" cy="354559"/>
          </a:xfrm>
          <a:prstGeom prst="rect">
            <a:avLst/>
          </a:prstGeom>
          <a:noFill/>
          <a:ln/>
        </p:spPr>
        <p:txBody>
          <a:bodyPr wrap="square" lIns="128931" tIns="64465" rIns="128931" bIns="64465" rtlCol="0" anchor="ctr"/>
          <a:lstStyle/>
          <a:p>
            <a:pPr>
              <a:lnSpc>
                <a:spcPct val="120000"/>
              </a:lnSpc>
            </a:pPr>
            <a:r>
              <a:rPr lang="en-US" sz="1269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2327" y="805816"/>
            <a:ext cx="11692394" cy="3223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Quantization Methods 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443" y="1273190"/>
            <a:ext cx="5640714" cy="4311117"/>
          </a:xfrm>
          <a:custGeom>
            <a:avLst/>
            <a:gdLst/>
            <a:ahLst/>
            <a:cxnLst/>
            <a:rect l="l" t="t" r="r" b="b"/>
            <a:pathLst>
              <a:path w="5640714" h="4311117">
                <a:moveTo>
                  <a:pt x="0" y="0"/>
                </a:moveTo>
                <a:lnTo>
                  <a:pt x="5640714" y="0"/>
                </a:lnTo>
                <a:lnTo>
                  <a:pt x="5640714" y="4311117"/>
                </a:lnTo>
                <a:lnTo>
                  <a:pt x="0" y="4311117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2233" dir="2700000">
              <a:srgbClr val="000000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5722" y="1450469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0" y="0"/>
                </a:moveTo>
                <a:lnTo>
                  <a:pt x="386792" y="0"/>
                </a:lnTo>
                <a:lnTo>
                  <a:pt x="386792" y="386792"/>
                </a:lnTo>
                <a:lnTo>
                  <a:pt x="0" y="386792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467373" y="1450469"/>
            <a:ext cx="483490" cy="38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PTQ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9212" y="1498818"/>
            <a:ext cx="2514147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Post-Training Quantization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722" y="1966192"/>
            <a:ext cx="5358678" cy="233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Quantizes 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pre-trained models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using a small calibration dataset 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without retraining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781" y="2338882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537" y="2443638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GPTQ Algorithm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8537" y="2701499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Layer-wise reconstruction using Hessian information. 175B models → 3-4 bits in 4 GPU hours.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781" y="3112465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537" y="3217221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AWQ (Activation-aware)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8537" y="3475083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Protects 1% critical weights via activation analysis. MLSys 2024 Best Paper.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3781" y="3886049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537" y="3990805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SmoothQuant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8537" y="4248666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Migrates quantization difficulty via scaling transformation. Enables W8A8 inference.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5722" y="4988003"/>
            <a:ext cx="5286155" cy="419024"/>
          </a:xfrm>
          <a:custGeom>
            <a:avLst/>
            <a:gdLst/>
            <a:ahLst/>
            <a:cxnLst/>
            <a:rect l="l" t="t" r="r" b="b"/>
            <a:pathLst>
              <a:path w="5286155" h="419024">
                <a:moveTo>
                  <a:pt x="0" y="0"/>
                </a:moveTo>
                <a:lnTo>
                  <a:pt x="5286155" y="0"/>
                </a:lnTo>
                <a:lnTo>
                  <a:pt x="5286155" y="419024"/>
                </a:lnTo>
                <a:lnTo>
                  <a:pt x="0" y="41902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1" name="Text 19"/>
          <p:cNvSpPr/>
          <p:nvPr/>
        </p:nvSpPr>
        <p:spPr>
          <a:xfrm>
            <a:off x="576159" y="5084701"/>
            <a:ext cx="5165282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Fast &amp; Cost-Effective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311" y="1273190"/>
            <a:ext cx="5640714" cy="4311117"/>
          </a:xfrm>
          <a:custGeom>
            <a:avLst/>
            <a:gdLst/>
            <a:ahLst/>
            <a:cxnLst/>
            <a:rect l="l" t="t" r="r" b="b"/>
            <a:pathLst>
              <a:path w="5640714" h="4311117">
                <a:moveTo>
                  <a:pt x="0" y="0"/>
                </a:moveTo>
                <a:lnTo>
                  <a:pt x="5640714" y="0"/>
                </a:lnTo>
                <a:lnTo>
                  <a:pt x="5640714" y="4311117"/>
                </a:lnTo>
                <a:lnTo>
                  <a:pt x="0" y="4311117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2233" dir="2700000">
              <a:srgbClr val="000000">
                <a:alpha val="10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5590" y="1450469"/>
            <a:ext cx="386792" cy="386792"/>
          </a:xfrm>
          <a:custGeom>
            <a:avLst/>
            <a:gdLst/>
            <a:ahLst/>
            <a:cxnLst/>
            <a:rect l="l" t="t" r="r" b="b"/>
            <a:pathLst>
              <a:path w="386792" h="386792">
                <a:moveTo>
                  <a:pt x="0" y="0"/>
                </a:moveTo>
                <a:lnTo>
                  <a:pt x="386792" y="0"/>
                </a:lnTo>
                <a:lnTo>
                  <a:pt x="386792" y="386792"/>
                </a:lnTo>
                <a:lnTo>
                  <a:pt x="0" y="386792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2"/>
          <p:cNvSpPr/>
          <p:nvPr/>
        </p:nvSpPr>
        <p:spPr>
          <a:xfrm>
            <a:off x="6337241" y="1450469"/>
            <a:ext cx="483490" cy="386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69080" y="1498818"/>
            <a:ext cx="2667252" cy="29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Quantization-Aware Training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5590" y="1966192"/>
            <a:ext cx="5358678" cy="475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Integrates quantization 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into the training process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allowing model parameters to 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adapt to reduced precision</a:t>
            </a:r>
            <a:pPr>
              <a:lnSpc>
                <a:spcPct val="140000"/>
              </a:lnSpc>
            </a:pPr>
            <a:r>
              <a:rPr lang="en-US" sz="1142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3648" y="2574583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8404" y="2679339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Straight-Through Estimator (STE)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8404" y="2937200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Approximates gradients through non-differentiable quantization operations during backpropagation.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3648" y="3348167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8404" y="3452923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FP4-Aware Training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98404" y="3710784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Near-lossless training with MXFP4 using EMA-based quantization and adaptive learning rate.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3648" y="4121750"/>
            <a:ext cx="5270038" cy="660769"/>
          </a:xfrm>
          <a:custGeom>
            <a:avLst/>
            <a:gdLst/>
            <a:ahLst/>
            <a:cxnLst/>
            <a:rect l="l" t="t" r="r" b="b"/>
            <a:pathLst>
              <a:path w="5270038" h="660769">
                <a:moveTo>
                  <a:pt x="0" y="0"/>
                </a:moveTo>
                <a:lnTo>
                  <a:pt x="5270038" y="0"/>
                </a:lnTo>
                <a:lnTo>
                  <a:pt x="5270038" y="660769"/>
                </a:lnTo>
                <a:lnTo>
                  <a:pt x="0" y="66076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8404" y="4226506"/>
            <a:ext cx="5133050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2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Stochastic Rounding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8404" y="4484367"/>
            <a:ext cx="512499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Essential for gradient quantization stability during low-precision training.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85590" y="4988003"/>
            <a:ext cx="5286155" cy="419024"/>
          </a:xfrm>
          <a:custGeom>
            <a:avLst/>
            <a:gdLst/>
            <a:ahLst/>
            <a:cxnLst/>
            <a:rect l="l" t="t" r="r" b="b"/>
            <a:pathLst>
              <a:path w="5286155" h="419024">
                <a:moveTo>
                  <a:pt x="0" y="0"/>
                </a:moveTo>
                <a:lnTo>
                  <a:pt x="5286155" y="0"/>
                </a:lnTo>
                <a:lnTo>
                  <a:pt x="5286155" y="419024"/>
                </a:lnTo>
                <a:lnTo>
                  <a:pt x="0" y="419024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026" y="5084701"/>
            <a:ext cx="5165282" cy="225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2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Higher Accuracy, Higher Cost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38443" y="5745470"/>
            <a:ext cx="11515114" cy="773584"/>
          </a:xfrm>
          <a:custGeom>
            <a:avLst/>
            <a:gdLst/>
            <a:ahLst/>
            <a:cxnLst/>
            <a:rect l="l" t="t" r="r" b="b"/>
            <a:pathLst>
              <a:path w="11515114" h="773584">
                <a:moveTo>
                  <a:pt x="0" y="0"/>
                </a:moveTo>
                <a:lnTo>
                  <a:pt x="11515114" y="0"/>
                </a:lnTo>
                <a:lnTo>
                  <a:pt x="11515114" y="773584"/>
                </a:lnTo>
                <a:lnTo>
                  <a:pt x="0" y="773584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2233" dir="2700000">
              <a:srgbClr val="000000">
                <a:alpha val="10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1257" y="5890517"/>
            <a:ext cx="372287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Speed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35141" y="6116145"/>
            <a:ext cx="375510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PTQ &gt; QAT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235572" y="5890517"/>
            <a:ext cx="372287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219455" y="6116145"/>
            <a:ext cx="375510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QAT &gt; PTQ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19886" y="5890517"/>
            <a:ext cx="3722871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Best For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003770" y="6116145"/>
            <a:ext cx="375510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23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Large Models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7456"/>
          </a:xfrm>
          <a:custGeom>
            <a:avLst/>
            <a:gdLst/>
            <a:ahLst/>
            <a:cxnLst/>
            <a:rect l="l" t="t" r="r" b="b"/>
            <a:pathLst>
              <a:path w="12192000" h="6857456">
                <a:moveTo>
                  <a:pt x="0" y="0"/>
                </a:moveTo>
                <a:lnTo>
                  <a:pt x="12192000" y="0"/>
                </a:lnTo>
                <a:lnTo>
                  <a:pt x="12192000" y="6857456"/>
                </a:lnTo>
                <a:lnTo>
                  <a:pt x="0" y="685745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48094" y="348094"/>
            <a:ext cx="548248" cy="382904"/>
          </a:xfrm>
          <a:custGeom>
            <a:avLst/>
            <a:gdLst/>
            <a:ahLst/>
            <a:cxnLst/>
            <a:rect l="l" t="t" r="r" b="b"/>
            <a:pathLst>
              <a:path w="548248" h="382904">
                <a:moveTo>
                  <a:pt x="0" y="0"/>
                </a:moveTo>
                <a:lnTo>
                  <a:pt x="548248" y="0"/>
                </a:lnTo>
                <a:lnTo>
                  <a:pt x="548248" y="382904"/>
                </a:lnTo>
                <a:lnTo>
                  <a:pt x="0" y="382904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48094" y="348094"/>
            <a:ext cx="635272" cy="382904"/>
          </a:xfrm>
          <a:prstGeom prst="rect">
            <a:avLst/>
          </a:prstGeom>
          <a:noFill/>
          <a:ln/>
        </p:spPr>
        <p:txBody>
          <a:bodyPr wrap="square" lIns="139238" tIns="69619" rIns="139238" bIns="69619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8094" y="870236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 Quantization Matters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499" y="1374972"/>
            <a:ext cx="6805242" cy="2689028"/>
          </a:xfrm>
          <a:custGeom>
            <a:avLst/>
            <a:gdLst/>
            <a:ahLst/>
            <a:cxnLst/>
            <a:rect l="l" t="t" r="r" b="b"/>
            <a:pathLst>
              <a:path w="6805242" h="2689028">
                <a:moveTo>
                  <a:pt x="0" y="0"/>
                </a:moveTo>
                <a:lnTo>
                  <a:pt x="6805242" y="0"/>
                </a:lnTo>
                <a:lnTo>
                  <a:pt x="6805242" y="2689028"/>
                </a:lnTo>
                <a:lnTo>
                  <a:pt x="0" y="2689028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4809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6951" y="1566424"/>
            <a:ext cx="652676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Challenge: Deployment Bottleneck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6951" y="1949328"/>
            <a:ext cx="6500660" cy="25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3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deep neural networks have </a:t>
            </a:r>
            <a:pPr>
              <a:lnSpc>
                <a:spcPct val="140000"/>
              </a:lnSpc>
            </a:pPr>
            <a:r>
              <a:rPr lang="en-US" sz="1233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billions of parameters</a:t>
            </a:r>
            <a:pPr>
              <a:lnSpc>
                <a:spcPct val="140000"/>
              </a:lnSpc>
            </a:pPr>
            <a:r>
              <a:rPr lang="en-US" sz="1233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creating fundamental deployment challenges: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5653" y="2317002"/>
            <a:ext cx="3141550" cy="713593"/>
          </a:xfrm>
          <a:custGeom>
            <a:avLst/>
            <a:gdLst/>
            <a:ahLst/>
            <a:cxnLst/>
            <a:rect l="l" t="t" r="r" b="b"/>
            <a:pathLst>
              <a:path w="3141550" h="713593">
                <a:moveTo>
                  <a:pt x="0" y="0"/>
                </a:moveTo>
                <a:lnTo>
                  <a:pt x="3141550" y="0"/>
                </a:lnTo>
                <a:lnTo>
                  <a:pt x="3141550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784" y="2430133"/>
            <a:ext cx="299361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Memory Constraints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8784" y="2708608"/>
            <a:ext cx="29849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175B parameters × 4 bytes = 700GB storage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29580" y="2317002"/>
            <a:ext cx="3141550" cy="713593"/>
          </a:xfrm>
          <a:custGeom>
            <a:avLst/>
            <a:gdLst/>
            <a:ahLst/>
            <a:cxnLst/>
            <a:rect l="l" t="t" r="r" b="b"/>
            <a:pathLst>
              <a:path w="3141550" h="713593">
                <a:moveTo>
                  <a:pt x="0" y="0"/>
                </a:moveTo>
                <a:lnTo>
                  <a:pt x="3141550" y="0"/>
                </a:lnTo>
                <a:lnTo>
                  <a:pt x="3141550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2711" y="2430133"/>
            <a:ext cx="299361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Power Consumption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42711" y="2708608"/>
            <a:ext cx="29849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High-precision operations drain battery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5653" y="3152428"/>
            <a:ext cx="3141550" cy="713593"/>
          </a:xfrm>
          <a:custGeom>
            <a:avLst/>
            <a:gdLst/>
            <a:ahLst/>
            <a:cxnLst/>
            <a:rect l="l" t="t" r="r" b="b"/>
            <a:pathLst>
              <a:path w="3141550" h="713593">
                <a:moveTo>
                  <a:pt x="0" y="0"/>
                </a:moveTo>
                <a:lnTo>
                  <a:pt x="3141550" y="0"/>
                </a:lnTo>
                <a:lnTo>
                  <a:pt x="3141550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784" y="3265559"/>
            <a:ext cx="299361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Latency Issues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8784" y="3544034"/>
            <a:ext cx="29849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Slow inference on edge devices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29580" y="3152428"/>
            <a:ext cx="3141550" cy="713593"/>
          </a:xfrm>
          <a:custGeom>
            <a:avLst/>
            <a:gdLst/>
            <a:ahLst/>
            <a:cxnLst/>
            <a:rect l="l" t="t" r="r" b="b"/>
            <a:pathLst>
              <a:path w="3141550" h="713593">
                <a:moveTo>
                  <a:pt x="0" y="0"/>
                </a:moveTo>
                <a:lnTo>
                  <a:pt x="3141550" y="0"/>
                </a:lnTo>
                <a:lnTo>
                  <a:pt x="3141550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42711" y="3265559"/>
            <a:ext cx="2993610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Cost Barriers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42711" y="3544034"/>
            <a:ext cx="298490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Expensive cloud infrastructure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499" y="4240223"/>
            <a:ext cx="6805242" cy="2602004"/>
          </a:xfrm>
          <a:custGeom>
            <a:avLst/>
            <a:gdLst/>
            <a:ahLst/>
            <a:cxnLst/>
            <a:rect l="l" t="t" r="r" b="b"/>
            <a:pathLst>
              <a:path w="6805242" h="2602004">
                <a:moveTo>
                  <a:pt x="0" y="0"/>
                </a:moveTo>
                <a:lnTo>
                  <a:pt x="6805242" y="0"/>
                </a:lnTo>
                <a:lnTo>
                  <a:pt x="6805242" y="2602004"/>
                </a:lnTo>
                <a:lnTo>
                  <a:pt x="0" y="2602004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4809" dir="2700000">
              <a:srgbClr val="000000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6951" y="4431675"/>
            <a:ext cx="6526767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Solution: Quantization Benefits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6951" y="4814578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0" y="0"/>
                </a:moveTo>
                <a:lnTo>
                  <a:pt x="348094" y="0"/>
                </a:lnTo>
                <a:lnTo>
                  <a:pt x="348094" y="348094"/>
                </a:lnTo>
                <a:lnTo>
                  <a:pt x="0" y="34809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4" name="Text 22"/>
          <p:cNvSpPr/>
          <p:nvPr/>
        </p:nvSpPr>
        <p:spPr>
          <a:xfrm>
            <a:off x="513439" y="4814578"/>
            <a:ext cx="43511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9473" y="4814578"/>
            <a:ext cx="507347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Direct Memory Reduction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9473" y="5058244"/>
            <a:ext cx="5064771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 smaller with INT8, 8x smaller with INT4—enables deployment on resource-constrained devices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6951" y="5371529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0" y="0"/>
                </a:moveTo>
                <a:lnTo>
                  <a:pt x="348094" y="0"/>
                </a:lnTo>
                <a:lnTo>
                  <a:pt x="348094" y="348094"/>
                </a:lnTo>
                <a:lnTo>
                  <a:pt x="0" y="34809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8" name="Text 26"/>
          <p:cNvSpPr/>
          <p:nvPr/>
        </p:nvSpPr>
        <p:spPr>
          <a:xfrm>
            <a:off x="513439" y="5371529"/>
            <a:ext cx="43511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9473" y="5371529"/>
            <a:ext cx="485591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Computational Efficiency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9473" y="5615195"/>
            <a:ext cx="484721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Lower precision operations require less energy and execute faster on specialized hardware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6951" y="5928480"/>
            <a:ext cx="348094" cy="348094"/>
          </a:xfrm>
          <a:custGeom>
            <a:avLst/>
            <a:gdLst/>
            <a:ahLst/>
            <a:cxnLst/>
            <a:rect l="l" t="t" r="r" b="b"/>
            <a:pathLst>
              <a:path w="348094" h="348094">
                <a:moveTo>
                  <a:pt x="0" y="0"/>
                </a:moveTo>
                <a:lnTo>
                  <a:pt x="348094" y="0"/>
                </a:lnTo>
                <a:lnTo>
                  <a:pt x="348094" y="348094"/>
                </a:lnTo>
                <a:lnTo>
                  <a:pt x="0" y="348094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2" name="Text 30"/>
          <p:cNvSpPr/>
          <p:nvPr/>
        </p:nvSpPr>
        <p:spPr>
          <a:xfrm>
            <a:off x="513439" y="5928480"/>
            <a:ext cx="435118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9473" y="5928480"/>
            <a:ext cx="426415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Hardware Acceleration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9473" y="6172146"/>
            <a:ext cx="425545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Modern NPUs and GPUs have dedicated INT8/INT4 accelerators for 2-6x speedups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45876" y="1374972"/>
            <a:ext cx="4481713" cy="3898655"/>
          </a:xfrm>
          <a:custGeom>
            <a:avLst/>
            <a:gdLst/>
            <a:ahLst/>
            <a:cxnLst/>
            <a:rect l="l" t="t" r="r" b="b"/>
            <a:pathLst>
              <a:path w="4481713" h="3898655">
                <a:moveTo>
                  <a:pt x="0" y="0"/>
                </a:moveTo>
                <a:lnTo>
                  <a:pt x="4481713" y="0"/>
                </a:lnTo>
                <a:lnTo>
                  <a:pt x="4481713" y="3898655"/>
                </a:lnTo>
                <a:lnTo>
                  <a:pt x="0" y="3898655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4809" dir="2700000">
              <a:srgbClr val="000000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85113" y="1566424"/>
            <a:ext cx="4203238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Memory Reduction Impact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37328" y="1984137"/>
            <a:ext cx="730998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FP32 (32-bit)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96686" y="1984137"/>
            <a:ext cx="30458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100%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37328" y="2227803"/>
            <a:ext cx="4098809" cy="278475"/>
          </a:xfrm>
          <a:custGeom>
            <a:avLst/>
            <a:gdLst/>
            <a:ahLst/>
            <a:cxnLst/>
            <a:rect l="l" t="t" r="r" b="b"/>
            <a:pathLst>
              <a:path w="4098809" h="278475">
                <a:moveTo>
                  <a:pt x="0" y="0"/>
                </a:moveTo>
                <a:lnTo>
                  <a:pt x="4098809" y="0"/>
                </a:lnTo>
                <a:lnTo>
                  <a:pt x="4098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7537328" y="2227803"/>
            <a:ext cx="4098809" cy="278475"/>
          </a:xfrm>
          <a:custGeom>
            <a:avLst/>
            <a:gdLst/>
            <a:ahLst/>
            <a:cxnLst/>
            <a:rect l="l" t="t" r="r" b="b"/>
            <a:pathLst>
              <a:path w="4098809" h="278475">
                <a:moveTo>
                  <a:pt x="0" y="0"/>
                </a:moveTo>
                <a:lnTo>
                  <a:pt x="4098809" y="0"/>
                </a:lnTo>
                <a:lnTo>
                  <a:pt x="4098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1" name="Text 39"/>
          <p:cNvSpPr/>
          <p:nvPr/>
        </p:nvSpPr>
        <p:spPr>
          <a:xfrm>
            <a:off x="7537328" y="2645516"/>
            <a:ext cx="67878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FP16 (16-bit)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432719" y="2645516"/>
            <a:ext cx="269773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50%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37328" y="2889182"/>
            <a:ext cx="4098809" cy="278475"/>
          </a:xfrm>
          <a:custGeom>
            <a:avLst/>
            <a:gdLst/>
            <a:ahLst/>
            <a:cxnLst/>
            <a:rect l="l" t="t" r="r" b="b"/>
            <a:pathLst>
              <a:path w="4098809" h="278475">
                <a:moveTo>
                  <a:pt x="0" y="0"/>
                </a:moveTo>
                <a:lnTo>
                  <a:pt x="4098809" y="0"/>
                </a:lnTo>
                <a:lnTo>
                  <a:pt x="4098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7537328" y="2889182"/>
            <a:ext cx="2045054" cy="278475"/>
          </a:xfrm>
          <a:custGeom>
            <a:avLst/>
            <a:gdLst/>
            <a:ahLst/>
            <a:cxnLst/>
            <a:rect l="l" t="t" r="r" b="b"/>
            <a:pathLst>
              <a:path w="2045054" h="278475">
                <a:moveTo>
                  <a:pt x="0" y="0"/>
                </a:moveTo>
                <a:lnTo>
                  <a:pt x="2045054" y="0"/>
                </a:lnTo>
                <a:lnTo>
                  <a:pt x="2045054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45" name="Text 43"/>
          <p:cNvSpPr/>
          <p:nvPr/>
        </p:nvSpPr>
        <p:spPr>
          <a:xfrm>
            <a:off x="7537328" y="3306895"/>
            <a:ext cx="643974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INT8 (8-bit)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427552" y="3306895"/>
            <a:ext cx="278475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25%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37328" y="3550561"/>
            <a:ext cx="4098809" cy="278475"/>
          </a:xfrm>
          <a:custGeom>
            <a:avLst/>
            <a:gdLst/>
            <a:ahLst/>
            <a:cxnLst/>
            <a:rect l="l" t="t" r="r" b="b"/>
            <a:pathLst>
              <a:path w="4098809" h="278475">
                <a:moveTo>
                  <a:pt x="0" y="0"/>
                </a:moveTo>
                <a:lnTo>
                  <a:pt x="4098809" y="0"/>
                </a:lnTo>
                <a:lnTo>
                  <a:pt x="4098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7537328" y="3550561"/>
            <a:ext cx="1026878" cy="278475"/>
          </a:xfrm>
          <a:custGeom>
            <a:avLst/>
            <a:gdLst/>
            <a:ahLst/>
            <a:cxnLst/>
            <a:rect l="l" t="t" r="r" b="b"/>
            <a:pathLst>
              <a:path w="1026878" h="278475">
                <a:moveTo>
                  <a:pt x="0" y="0"/>
                </a:moveTo>
                <a:lnTo>
                  <a:pt x="1026878" y="0"/>
                </a:lnTo>
                <a:lnTo>
                  <a:pt x="1026878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9" name="Text 47"/>
          <p:cNvSpPr/>
          <p:nvPr/>
        </p:nvSpPr>
        <p:spPr>
          <a:xfrm>
            <a:off x="7537328" y="3968274"/>
            <a:ext cx="63527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INT4 (4-bit)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365684" y="3968274"/>
            <a:ext cx="339392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12.5%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537328" y="4211940"/>
            <a:ext cx="4098809" cy="278475"/>
          </a:xfrm>
          <a:custGeom>
            <a:avLst/>
            <a:gdLst/>
            <a:ahLst/>
            <a:cxnLst/>
            <a:rect l="l" t="t" r="r" b="b"/>
            <a:pathLst>
              <a:path w="4098809" h="278475">
                <a:moveTo>
                  <a:pt x="0" y="0"/>
                </a:moveTo>
                <a:lnTo>
                  <a:pt x="4098809" y="0"/>
                </a:lnTo>
                <a:lnTo>
                  <a:pt x="409880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7537328" y="4211940"/>
            <a:ext cx="513439" cy="278475"/>
          </a:xfrm>
          <a:custGeom>
            <a:avLst/>
            <a:gdLst/>
            <a:ahLst/>
            <a:cxnLst/>
            <a:rect l="l" t="t" r="r" b="b"/>
            <a:pathLst>
              <a:path w="513439" h="278475">
                <a:moveTo>
                  <a:pt x="0" y="0"/>
                </a:moveTo>
                <a:lnTo>
                  <a:pt x="513439" y="0"/>
                </a:lnTo>
                <a:lnTo>
                  <a:pt x="513439" y="278475"/>
                </a:lnTo>
                <a:lnTo>
                  <a:pt x="0" y="278475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3" name="Shape 51"/>
          <p:cNvSpPr/>
          <p:nvPr/>
        </p:nvSpPr>
        <p:spPr>
          <a:xfrm>
            <a:off x="7537328" y="4629653"/>
            <a:ext cx="4098809" cy="452522"/>
          </a:xfrm>
          <a:custGeom>
            <a:avLst/>
            <a:gdLst/>
            <a:ahLst/>
            <a:cxnLst/>
            <a:rect l="l" t="t" r="r" b="b"/>
            <a:pathLst>
              <a:path w="4098809" h="452522">
                <a:moveTo>
                  <a:pt x="0" y="0"/>
                </a:moveTo>
                <a:lnTo>
                  <a:pt x="4098809" y="0"/>
                </a:lnTo>
                <a:lnTo>
                  <a:pt x="4098809" y="452522"/>
                </a:lnTo>
                <a:lnTo>
                  <a:pt x="0" y="452522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4" name="Text 52"/>
          <p:cNvSpPr/>
          <p:nvPr/>
        </p:nvSpPr>
        <p:spPr>
          <a:xfrm>
            <a:off x="7602595" y="4734081"/>
            <a:ext cx="396827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3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8x Smaller with INT4!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45876" y="5447675"/>
            <a:ext cx="4481713" cy="1392377"/>
          </a:xfrm>
          <a:custGeom>
            <a:avLst/>
            <a:gdLst/>
            <a:ahLst/>
            <a:cxnLst/>
            <a:rect l="l" t="t" r="r" b="b"/>
            <a:pathLst>
              <a:path w="4481713" h="1392377">
                <a:moveTo>
                  <a:pt x="0" y="0"/>
                </a:moveTo>
                <a:lnTo>
                  <a:pt x="4481713" y="0"/>
                </a:lnTo>
                <a:lnTo>
                  <a:pt x="4481713" y="1392377"/>
                </a:lnTo>
                <a:lnTo>
                  <a:pt x="0" y="1392377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4809" dir="2700000">
              <a:srgbClr val="000000">
                <a:alpha val="10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459006" y="5604317"/>
            <a:ext cx="425545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511221" y="5961113"/>
            <a:ext cx="2010244" cy="713593"/>
          </a:xfrm>
          <a:custGeom>
            <a:avLst/>
            <a:gdLst/>
            <a:ahLst/>
            <a:cxnLst/>
            <a:rect l="l" t="t" r="r" b="b"/>
            <a:pathLst>
              <a:path w="2010244" h="713593">
                <a:moveTo>
                  <a:pt x="0" y="0"/>
                </a:moveTo>
                <a:lnTo>
                  <a:pt x="2010244" y="0"/>
                </a:lnTo>
                <a:lnTo>
                  <a:pt x="2010244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59084" y="6074244"/>
            <a:ext cx="1914518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 GPU hrs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593893" y="6387529"/>
            <a:ext cx="184489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GPTQ for 175B model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646561" y="5961113"/>
            <a:ext cx="2010244" cy="713593"/>
          </a:xfrm>
          <a:custGeom>
            <a:avLst/>
            <a:gdLst/>
            <a:ahLst/>
            <a:cxnLst/>
            <a:rect l="l" t="t" r="r" b="b"/>
            <a:pathLst>
              <a:path w="2010244" h="713593">
                <a:moveTo>
                  <a:pt x="0" y="0"/>
                </a:moveTo>
                <a:lnTo>
                  <a:pt x="2010244" y="0"/>
                </a:lnTo>
                <a:lnTo>
                  <a:pt x="2010244" y="713593"/>
                </a:lnTo>
                <a:lnTo>
                  <a:pt x="0" y="7135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4424" y="6074244"/>
            <a:ext cx="1914518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6x speedup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729233" y="6387529"/>
            <a:ext cx="1844899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Layer-wise on RTX 5090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381000"/>
            <a:ext cx="676275" cy="419100"/>
          </a:xfrm>
          <a:custGeom>
            <a:avLst/>
            <a:gdLst/>
            <a:ahLst/>
            <a:cxnLst/>
            <a:rect l="l" t="t" r="r" b="b"/>
            <a:pathLst>
              <a:path w="676275" h="419100">
                <a:moveTo>
                  <a:pt x="0" y="0"/>
                </a:moveTo>
                <a:lnTo>
                  <a:pt x="676275" y="0"/>
                </a:lnTo>
                <a:lnTo>
                  <a:pt x="6762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381000"/>
            <a:ext cx="771525" cy="4191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9525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is MR-GPTQ?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504950"/>
            <a:ext cx="5562600" cy="2238375"/>
          </a:xfrm>
          <a:custGeom>
            <a:avLst/>
            <a:gdLst/>
            <a:ahLst/>
            <a:cxnLst/>
            <a:rect l="l" t="t" r="r" b="b"/>
            <a:pathLst>
              <a:path w="5562600" h="2238375">
                <a:moveTo>
                  <a:pt x="0" y="0"/>
                </a:moveTo>
                <a:lnTo>
                  <a:pt x="5562600" y="0"/>
                </a:lnTo>
                <a:lnTo>
                  <a:pt x="5562600" y="2238375"/>
                </a:lnTo>
                <a:lnTo>
                  <a:pt x="0" y="22383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17145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Micro-Rotated GPTQ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52292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MR-GPTQ extends the classic GPTQ framework specifically for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microscaling FP4 formats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—a paradigm shift from generic to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format-aware quantization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814638"/>
            <a:ext cx="5124450" cy="704850"/>
          </a:xfrm>
          <a:custGeom>
            <a:avLst/>
            <a:gdLst/>
            <a:ahLst/>
            <a:cxnLst/>
            <a:rect l="l" t="t" r="r" b="b"/>
            <a:pathLst>
              <a:path w="5124450" h="704850">
                <a:moveTo>
                  <a:pt x="0" y="0"/>
                </a:moveTo>
                <a:lnTo>
                  <a:pt x="5124450" y="0"/>
                </a:lnTo>
                <a:lnTo>
                  <a:pt x="5124450" y="704850"/>
                </a:lnTo>
                <a:lnTo>
                  <a:pt x="0" y="7048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850" y="2938463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Insight: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FP4 is NOT a drop-in replacement for INT4—it's a 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new design primitive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requiring fundamental pipeline rethinking.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929063"/>
            <a:ext cx="5562600" cy="2705100"/>
          </a:xfrm>
          <a:custGeom>
            <a:avLst/>
            <a:gdLst/>
            <a:ahLst/>
            <a:cxnLst/>
            <a:rect l="l" t="t" r="r" b="b"/>
            <a:pathLst>
              <a:path w="5562600" h="2705100">
                <a:moveTo>
                  <a:pt x="0" y="0"/>
                </a:moveTo>
                <a:lnTo>
                  <a:pt x="5562600" y="0"/>
                </a:lnTo>
                <a:lnTo>
                  <a:pt x="5562600" y="2705100"/>
                </a:lnTo>
                <a:lnTo>
                  <a:pt x="0" y="27051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9600" y="4138613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FP4 E2M1 Format Architecture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4567238"/>
            <a:ext cx="1619250" cy="819150"/>
          </a:xfrm>
          <a:custGeom>
            <a:avLst/>
            <a:gdLst/>
            <a:ahLst/>
            <a:cxnLst/>
            <a:rect l="l" t="t" r="r" b="b"/>
            <a:pathLst>
              <a:path w="1619250" h="819150">
                <a:moveTo>
                  <a:pt x="0" y="0"/>
                </a:moveTo>
                <a:lnTo>
                  <a:pt x="1619250" y="0"/>
                </a:lnTo>
                <a:lnTo>
                  <a:pt x="16192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513" y="4691063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" y="503396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Sign Bit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71725" y="4567238"/>
            <a:ext cx="1619250" cy="819150"/>
          </a:xfrm>
          <a:custGeom>
            <a:avLst/>
            <a:gdLst/>
            <a:ahLst/>
            <a:cxnLst/>
            <a:rect l="l" t="t" r="r" b="b"/>
            <a:pathLst>
              <a:path w="1619250" h="819150">
                <a:moveTo>
                  <a:pt x="0" y="0"/>
                </a:moveTo>
                <a:lnTo>
                  <a:pt x="1619250" y="0"/>
                </a:lnTo>
                <a:lnTo>
                  <a:pt x="16192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4113" y="4691063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7450" y="503396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Exponent Bits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24325" y="4567238"/>
            <a:ext cx="1619250" cy="819150"/>
          </a:xfrm>
          <a:custGeom>
            <a:avLst/>
            <a:gdLst/>
            <a:ahLst/>
            <a:cxnLst/>
            <a:rect l="l" t="t" r="r" b="b"/>
            <a:pathLst>
              <a:path w="1619250" h="819150">
                <a:moveTo>
                  <a:pt x="0" y="0"/>
                </a:moveTo>
                <a:lnTo>
                  <a:pt x="1619250" y="0"/>
                </a:lnTo>
                <a:lnTo>
                  <a:pt x="16192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76712" y="4691063"/>
            <a:ext cx="1514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10050" y="503396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Mantissa Bit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" y="5557838"/>
            <a:ext cx="5124450" cy="857250"/>
          </a:xfrm>
          <a:custGeom>
            <a:avLst/>
            <a:gdLst/>
            <a:ahLst/>
            <a:cxnLst/>
            <a:rect l="l" t="t" r="r" b="b"/>
            <a:pathLst>
              <a:path w="5124450" h="857250">
                <a:moveTo>
                  <a:pt x="0" y="0"/>
                </a:moveTo>
                <a:lnTo>
                  <a:pt x="5124450" y="0"/>
                </a:lnTo>
                <a:lnTo>
                  <a:pt x="51244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950" y="5681663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Representable Values: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25" y="6024563"/>
            <a:ext cx="497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A7F07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{0.5, 1.0, 1.5, 2.0, 3.0, 4.0, 6.0} + 0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504950"/>
            <a:ext cx="5562600" cy="3305175"/>
          </a:xfrm>
          <a:custGeom>
            <a:avLst/>
            <a:gdLst/>
            <a:ahLst/>
            <a:cxnLst/>
            <a:rect l="l" t="t" r="r" b="b"/>
            <a:pathLst>
              <a:path w="5562600" h="3305175">
                <a:moveTo>
                  <a:pt x="0" y="0"/>
                </a:moveTo>
                <a:lnTo>
                  <a:pt x="5562600" y="0"/>
                </a:lnTo>
                <a:lnTo>
                  <a:pt x="5562600" y="3305175"/>
                </a:lnTo>
                <a:lnTo>
                  <a:pt x="0" y="3305175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38900" y="1714500"/>
            <a:ext cx="525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Two Microscaling Formats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8425" y="21431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0" y="0"/>
                </a:moveTo>
                <a:lnTo>
                  <a:pt x="5124450" y="0"/>
                </a:lnTo>
                <a:lnTo>
                  <a:pt x="51244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2250" y="2266950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MXFP4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528995" y="2266950"/>
            <a:ext cx="923925" cy="266700"/>
          </a:xfrm>
          <a:custGeom>
            <a:avLst/>
            <a:gdLst/>
            <a:ahLst/>
            <a:cxnLst/>
            <a:rect l="l" t="t" r="r" b="b"/>
            <a:pathLst>
              <a:path w="923925" h="266700">
                <a:moveTo>
                  <a:pt x="0" y="0"/>
                </a:moveTo>
                <a:lnTo>
                  <a:pt x="923925" y="0"/>
                </a:lnTo>
                <a:lnTo>
                  <a:pt x="9239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528995" y="2266950"/>
            <a:ext cx="990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4.25 bits/elem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72250" y="2638425"/>
            <a:ext cx="610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 Size: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45387" y="2638425"/>
            <a:ext cx="6692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32 elements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48750" y="2638425"/>
            <a:ext cx="35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Scale: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69921" y="2638425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E8M0 (power-of-2)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48425" y="3057525"/>
            <a:ext cx="5124450" cy="781050"/>
          </a:xfrm>
          <a:custGeom>
            <a:avLst/>
            <a:gdLst/>
            <a:ahLst/>
            <a:cxnLst/>
            <a:rect l="l" t="t" r="r" b="b"/>
            <a:pathLst>
              <a:path w="5124450" h="781050">
                <a:moveTo>
                  <a:pt x="0" y="0"/>
                </a:moveTo>
                <a:lnTo>
                  <a:pt x="5124450" y="0"/>
                </a:lnTo>
                <a:lnTo>
                  <a:pt x="51244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72250" y="3181350"/>
            <a:ext cx="504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NVFP4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88228" y="3181350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0" y="0"/>
                </a:moveTo>
                <a:lnTo>
                  <a:pt x="857250" y="0"/>
                </a:lnTo>
                <a:lnTo>
                  <a:pt x="8572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38" name="Text 36"/>
          <p:cNvSpPr/>
          <p:nvPr/>
        </p:nvSpPr>
        <p:spPr>
          <a:xfrm>
            <a:off x="10588228" y="3181350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4.5 bits/elem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72250" y="3552825"/>
            <a:ext cx="6100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 Size: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45387" y="3552825"/>
            <a:ext cx="644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16 elements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48750" y="3552825"/>
            <a:ext cx="358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Scale: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69921" y="3552825"/>
            <a:ext cx="7681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E4M3 (full FP8)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38900" y="3962400"/>
            <a:ext cx="5143500" cy="457200"/>
          </a:xfrm>
          <a:custGeom>
            <a:avLst/>
            <a:gdLst/>
            <a:ahLst/>
            <a:cxnLst/>
            <a:rect l="l" t="t" r="r" b="b"/>
            <a:pathLst>
              <a:path w="5143500" h="457200">
                <a:moveTo>
                  <a:pt x="0" y="0"/>
                </a:moveTo>
                <a:lnTo>
                  <a:pt x="5143500" y="0"/>
                </a:lnTo>
                <a:lnTo>
                  <a:pt x="51435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4" name="Text 42"/>
          <p:cNvSpPr/>
          <p:nvPr/>
        </p:nvSpPr>
        <p:spPr>
          <a:xfrm>
            <a:off x="6515100" y="4076700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Supported on NVIDIA Blackwell &amp; AMD CDNA 4 GPUs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29350" y="4995863"/>
            <a:ext cx="5562600" cy="1638300"/>
          </a:xfrm>
          <a:custGeom>
            <a:avLst/>
            <a:gdLst/>
            <a:ahLst/>
            <a:cxnLst/>
            <a:rect l="l" t="t" r="r" b="b"/>
            <a:pathLst>
              <a:path w="5562600" h="1638300">
                <a:moveTo>
                  <a:pt x="0" y="0"/>
                </a:moveTo>
                <a:lnTo>
                  <a:pt x="5562600" y="0"/>
                </a:lnTo>
                <a:lnTo>
                  <a:pt x="5562600" y="1638300"/>
                </a:ln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38900" y="5205413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 Non-Uniform Grid?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438900" y="55864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5586413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+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43700" y="5586413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Better represents heavy-tailed weight distributions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38900" y="58912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5891213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743700" y="5891213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Higher dynamic range than uniform integer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38900" y="61960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6196013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+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743700" y="6196013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Hardware-optimized for tensor operations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9600"/>
          </a:xfrm>
          <a:custGeom>
            <a:avLst/>
            <a:gdLst/>
            <a:ahLst/>
            <a:cxnLst/>
            <a:rect l="l" t="t" r="r" b="b"/>
            <a:pathLst>
              <a:path w="12192000" h="6859600">
                <a:moveTo>
                  <a:pt x="0" y="0"/>
                </a:moveTo>
                <a:lnTo>
                  <a:pt x="12192000" y="0"/>
                </a:lnTo>
                <a:lnTo>
                  <a:pt x="12192000" y="6859600"/>
                </a:lnTo>
                <a:lnTo>
                  <a:pt x="0" y="68596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41274" y="341274"/>
            <a:ext cx="528974" cy="375401"/>
          </a:xfrm>
          <a:custGeom>
            <a:avLst/>
            <a:gdLst/>
            <a:ahLst/>
            <a:cxnLst/>
            <a:rect l="l" t="t" r="r" b="b"/>
            <a:pathLst>
              <a:path w="528974" h="375401">
                <a:moveTo>
                  <a:pt x="0" y="0"/>
                </a:moveTo>
                <a:lnTo>
                  <a:pt x="528974" y="0"/>
                </a:lnTo>
                <a:lnTo>
                  <a:pt x="528974" y="375401"/>
                </a:lnTo>
                <a:lnTo>
                  <a:pt x="0" y="375401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41274" y="341274"/>
            <a:ext cx="614293" cy="375401"/>
          </a:xfrm>
          <a:prstGeom prst="rect">
            <a:avLst/>
          </a:prstGeom>
          <a:noFill/>
          <a:ln/>
        </p:spPr>
        <p:txBody>
          <a:bodyPr wrap="square" lIns="136509" tIns="68255" rIns="136509" bIns="68255" rtlCol="0" anchor="ctr"/>
          <a:lstStyle/>
          <a:p>
            <a:pPr>
              <a:lnSpc>
                <a:spcPct val="120000"/>
              </a:lnSpc>
            </a:pPr>
            <a:r>
              <a:rPr lang="en-US" sz="1344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274" y="853184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How MR-GPTQ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8337" y="1348031"/>
            <a:ext cx="3711351" cy="3242099"/>
          </a:xfrm>
          <a:custGeom>
            <a:avLst/>
            <a:gdLst/>
            <a:ahLst/>
            <a:cxnLst/>
            <a:rect l="l" t="t" r="r" b="b"/>
            <a:pathLst>
              <a:path w="3711351" h="3242099">
                <a:moveTo>
                  <a:pt x="0" y="0"/>
                </a:moveTo>
                <a:lnTo>
                  <a:pt x="3711351" y="0"/>
                </a:lnTo>
                <a:lnTo>
                  <a:pt x="3711351" y="3242099"/>
                </a:lnTo>
                <a:lnTo>
                  <a:pt x="0" y="3242099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1910" y="1501604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8" name="Text 6"/>
          <p:cNvSpPr/>
          <p:nvPr/>
        </p:nvSpPr>
        <p:spPr>
          <a:xfrm>
            <a:off x="460719" y="1501604"/>
            <a:ext cx="511910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2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3821" y="1586922"/>
            <a:ext cx="220974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Block-wise Hadamard Transforms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1910" y="2013514"/>
            <a:ext cx="3472459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Normalizes weight and activation distributions by 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reducing outlier impact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that FP4 grids poorly capture.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0442" y="2568084"/>
            <a:ext cx="3387141" cy="631356"/>
          </a:xfrm>
          <a:custGeom>
            <a:avLst/>
            <a:gdLst/>
            <a:ahLst/>
            <a:cxnLst/>
            <a:rect l="l" t="t" r="r" b="b"/>
            <a:pathLst>
              <a:path w="3387141" h="631356">
                <a:moveTo>
                  <a:pt x="0" y="0"/>
                </a:moveTo>
                <a:lnTo>
                  <a:pt x="3387141" y="0"/>
                </a:lnTo>
                <a:lnTo>
                  <a:pt x="3387141" y="631356"/>
                </a:lnTo>
                <a:lnTo>
                  <a:pt x="0" y="6313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356" y="2678998"/>
            <a:ext cx="323356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Computational Efficiency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356" y="2917889"/>
            <a:ext cx="322503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Uses only </a:t>
            </a:r>
            <a:pPr>
              <a:lnSpc>
                <a:spcPct val="120000"/>
              </a:lnSpc>
            </a:pPr>
            <a:r>
              <a:rPr lang="en-US" sz="94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additions &amp; subtractions</a:t>
            </a:r>
            <a:pPr>
              <a:lnSpc>
                <a:spcPct val="120000"/>
              </a:lnSpc>
            </a:pPr>
            <a:r>
              <a:rPr lang="en-US" sz="94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—no multiplications!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1910" y="3822265"/>
            <a:ext cx="3404204" cy="614293"/>
          </a:xfrm>
          <a:custGeom>
            <a:avLst/>
            <a:gdLst/>
            <a:ahLst/>
            <a:cxnLst/>
            <a:rect l="l" t="t" r="r" b="b"/>
            <a:pathLst>
              <a:path w="3404204" h="614293">
                <a:moveTo>
                  <a:pt x="0" y="0"/>
                </a:moveTo>
                <a:lnTo>
                  <a:pt x="3404204" y="0"/>
                </a:lnTo>
                <a:lnTo>
                  <a:pt x="3404204" y="614293"/>
                </a:lnTo>
                <a:lnTo>
                  <a:pt x="0" y="6142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5" name="Text 13"/>
          <p:cNvSpPr/>
          <p:nvPr/>
        </p:nvSpPr>
        <p:spPr>
          <a:xfrm>
            <a:off x="584431" y="3924647"/>
            <a:ext cx="325916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16-point: 32 adds vs 256 multiplies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5899" y="4095283"/>
            <a:ext cx="327622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8x more efficient!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258" y="1348031"/>
            <a:ext cx="3711351" cy="3242099"/>
          </a:xfrm>
          <a:custGeom>
            <a:avLst/>
            <a:gdLst/>
            <a:ahLst/>
            <a:cxnLst/>
            <a:rect l="l" t="t" r="r" b="b"/>
            <a:pathLst>
              <a:path w="3711351" h="3242099">
                <a:moveTo>
                  <a:pt x="0" y="0"/>
                </a:moveTo>
                <a:lnTo>
                  <a:pt x="3711351" y="0"/>
                </a:lnTo>
                <a:lnTo>
                  <a:pt x="3711351" y="3242099"/>
                </a:lnTo>
                <a:lnTo>
                  <a:pt x="0" y="3242099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4831" y="1501604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640" y="1501604"/>
            <a:ext cx="511910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2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06741" y="1586922"/>
            <a:ext cx="220974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MSE-Optimized Quantization Grids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831" y="2013514"/>
            <a:ext cx="3472459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Tunes quantization to 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specific FP4 format error characteristics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optimal accuracy.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3363" y="2568084"/>
            <a:ext cx="3387141" cy="528974"/>
          </a:xfrm>
          <a:custGeom>
            <a:avLst/>
            <a:gdLst/>
            <a:ahLst/>
            <a:cxnLst/>
            <a:rect l="l" t="t" r="r" b="b"/>
            <a:pathLst>
              <a:path w="3387141" h="528974">
                <a:moveTo>
                  <a:pt x="0" y="0"/>
                </a:moveTo>
                <a:lnTo>
                  <a:pt x="3387141" y="0"/>
                </a:lnTo>
                <a:lnTo>
                  <a:pt x="3387141" y="528974"/>
                </a:lnTo>
                <a:lnTo>
                  <a:pt x="0" y="5289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149" y="2644871"/>
            <a:ext cx="330182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NVFP4: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80149" y="2849635"/>
            <a:ext cx="3293290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Jointly optimizes scale parameters with GPTQ weight updates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03363" y="3182376"/>
            <a:ext cx="3387141" cy="528974"/>
          </a:xfrm>
          <a:custGeom>
            <a:avLst/>
            <a:gdLst/>
            <a:ahLst/>
            <a:cxnLst/>
            <a:rect l="l" t="t" r="r" b="b"/>
            <a:pathLst>
              <a:path w="3387141" h="528974">
                <a:moveTo>
                  <a:pt x="0" y="0"/>
                </a:moveTo>
                <a:lnTo>
                  <a:pt x="3387141" y="0"/>
                </a:lnTo>
                <a:lnTo>
                  <a:pt x="3387141" y="528974"/>
                </a:lnTo>
                <a:lnTo>
                  <a:pt x="0" y="5289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149" y="3259163"/>
            <a:ext cx="330182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MXFP4: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149" y="3463927"/>
            <a:ext cx="3293290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Compensates for power-of-two scale constraints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94831" y="3822265"/>
            <a:ext cx="3404204" cy="614293"/>
          </a:xfrm>
          <a:custGeom>
            <a:avLst/>
            <a:gdLst/>
            <a:ahLst/>
            <a:cxnLst/>
            <a:rect l="l" t="t" r="r" b="b"/>
            <a:pathLst>
              <a:path w="3404204" h="614293">
                <a:moveTo>
                  <a:pt x="0" y="0"/>
                </a:moveTo>
                <a:lnTo>
                  <a:pt x="3404204" y="0"/>
                </a:lnTo>
                <a:lnTo>
                  <a:pt x="3404204" y="614293"/>
                </a:lnTo>
                <a:lnTo>
                  <a:pt x="0" y="614293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29" name="Text 27"/>
          <p:cNvSpPr/>
          <p:nvPr/>
        </p:nvSpPr>
        <p:spPr>
          <a:xfrm>
            <a:off x="4467352" y="3924647"/>
            <a:ext cx="325916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Format-specific optimization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58820" y="4095283"/>
            <a:ext cx="327622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Not one-size-fits-all!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4178" y="1348031"/>
            <a:ext cx="3711351" cy="3242099"/>
          </a:xfrm>
          <a:custGeom>
            <a:avLst/>
            <a:gdLst/>
            <a:ahLst/>
            <a:cxnLst/>
            <a:rect l="l" t="t" r="r" b="b"/>
            <a:pathLst>
              <a:path w="3711351" h="3242099">
                <a:moveTo>
                  <a:pt x="0" y="0"/>
                </a:moveTo>
                <a:lnTo>
                  <a:pt x="3711351" y="0"/>
                </a:lnTo>
                <a:lnTo>
                  <a:pt x="3711351" y="3242099"/>
                </a:lnTo>
                <a:lnTo>
                  <a:pt x="0" y="3242099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7752" y="1501604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0" y="0"/>
                </a:moveTo>
                <a:lnTo>
                  <a:pt x="409528" y="0"/>
                </a:lnTo>
                <a:lnTo>
                  <a:pt x="409528" y="409528"/>
                </a:lnTo>
                <a:lnTo>
                  <a:pt x="0" y="409528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3" name="Text 31"/>
          <p:cNvSpPr/>
          <p:nvPr/>
        </p:nvSpPr>
        <p:spPr>
          <a:xfrm>
            <a:off x="8226561" y="1501604"/>
            <a:ext cx="511910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2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89662" y="1586922"/>
            <a:ext cx="188553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Static Activation Reordering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7752" y="2013514"/>
            <a:ext cx="3472459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Sorts columns by 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activation magnitude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improve GPTQ error compensation path.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86283" y="2568084"/>
            <a:ext cx="3387141" cy="801993"/>
          </a:xfrm>
          <a:custGeom>
            <a:avLst/>
            <a:gdLst/>
            <a:ahLst/>
            <a:cxnLst/>
            <a:rect l="l" t="t" r="r" b="b"/>
            <a:pathLst>
              <a:path w="3387141" h="801993">
                <a:moveTo>
                  <a:pt x="0" y="0"/>
                </a:moveTo>
                <a:lnTo>
                  <a:pt x="3387141" y="0"/>
                </a:lnTo>
                <a:lnTo>
                  <a:pt x="3387141" y="801993"/>
                </a:lnTo>
                <a:lnTo>
                  <a:pt x="0" y="8019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7197" y="2678998"/>
            <a:ext cx="323356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Strategy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97197" y="2917889"/>
            <a:ext cx="322503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Process most important activations first, allowing better error distribution across remaining columns.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77752" y="3822265"/>
            <a:ext cx="3404204" cy="614293"/>
          </a:xfrm>
          <a:custGeom>
            <a:avLst/>
            <a:gdLst/>
            <a:ahLst/>
            <a:cxnLst/>
            <a:rect l="l" t="t" r="r" b="b"/>
            <a:pathLst>
              <a:path w="3404204" h="614293">
                <a:moveTo>
                  <a:pt x="0" y="0"/>
                </a:moveTo>
                <a:lnTo>
                  <a:pt x="3404204" y="0"/>
                </a:lnTo>
                <a:lnTo>
                  <a:pt x="3404204" y="614293"/>
                </a:lnTo>
                <a:lnTo>
                  <a:pt x="0" y="614293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40" name="Text 38"/>
          <p:cNvSpPr/>
          <p:nvPr/>
        </p:nvSpPr>
        <p:spPr>
          <a:xfrm>
            <a:off x="8350272" y="3924647"/>
            <a:ext cx="325916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1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Improves layer-wise reconstruction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41740" y="4095283"/>
            <a:ext cx="327622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Better accuracy!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8337" y="4760767"/>
            <a:ext cx="5656610" cy="1433349"/>
          </a:xfrm>
          <a:custGeom>
            <a:avLst/>
            <a:gdLst/>
            <a:ahLst/>
            <a:cxnLst/>
            <a:rect l="l" t="t" r="r" b="b"/>
            <a:pathLst>
              <a:path w="5656610" h="1433349">
                <a:moveTo>
                  <a:pt x="0" y="0"/>
                </a:moveTo>
                <a:lnTo>
                  <a:pt x="5656610" y="0"/>
                </a:lnTo>
                <a:lnTo>
                  <a:pt x="5656610" y="1433349"/>
                </a:lnTo>
                <a:lnTo>
                  <a:pt x="0" y="1433349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9251" y="4914340"/>
            <a:ext cx="543478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Performance: NVIDIA B200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0442" y="5264146"/>
            <a:ext cx="2585148" cy="767866"/>
          </a:xfrm>
          <a:custGeom>
            <a:avLst/>
            <a:gdLst/>
            <a:ahLst/>
            <a:cxnLst/>
            <a:rect l="l" t="t" r="r" b="b"/>
            <a:pathLst>
              <a:path w="2585148" h="767866">
                <a:moveTo>
                  <a:pt x="0" y="0"/>
                </a:moveTo>
                <a:lnTo>
                  <a:pt x="2585148" y="0"/>
                </a:lnTo>
                <a:lnTo>
                  <a:pt x="2585148" y="767866"/>
                </a:lnTo>
                <a:lnTo>
                  <a:pt x="0" y="7678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4570" y="5375059"/>
            <a:ext cx="2516893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3.6x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7229" y="5716333"/>
            <a:ext cx="24315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Layer-wise Speedup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61963" y="5264146"/>
            <a:ext cx="2585148" cy="767866"/>
          </a:xfrm>
          <a:custGeom>
            <a:avLst/>
            <a:gdLst/>
            <a:ahLst/>
            <a:cxnLst/>
            <a:rect l="l" t="t" r="r" b="b"/>
            <a:pathLst>
              <a:path w="2585148" h="767866">
                <a:moveTo>
                  <a:pt x="0" y="0"/>
                </a:moveTo>
                <a:lnTo>
                  <a:pt x="2585148" y="0"/>
                </a:lnTo>
                <a:lnTo>
                  <a:pt x="2585148" y="767866"/>
                </a:lnTo>
                <a:lnTo>
                  <a:pt x="0" y="7678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6090" y="5375059"/>
            <a:ext cx="2516893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2.2x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3338749" y="5716333"/>
            <a:ext cx="24315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End-to-End Speedup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82652" y="4760767"/>
            <a:ext cx="5656610" cy="1433349"/>
          </a:xfrm>
          <a:custGeom>
            <a:avLst/>
            <a:gdLst/>
            <a:ahLst/>
            <a:cxnLst/>
            <a:rect l="l" t="t" r="r" b="b"/>
            <a:pathLst>
              <a:path w="5656610" h="1433349">
                <a:moveTo>
                  <a:pt x="0" y="0"/>
                </a:moveTo>
                <a:lnTo>
                  <a:pt x="5656610" y="0"/>
                </a:lnTo>
                <a:lnTo>
                  <a:pt x="5656610" y="1433349"/>
                </a:lnTo>
                <a:lnTo>
                  <a:pt x="0" y="1433349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293565" y="4914340"/>
            <a:ext cx="543478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Performance: RTX 5090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44756" y="5264146"/>
            <a:ext cx="2585148" cy="767866"/>
          </a:xfrm>
          <a:custGeom>
            <a:avLst/>
            <a:gdLst/>
            <a:ahLst/>
            <a:cxnLst/>
            <a:rect l="l" t="t" r="r" b="b"/>
            <a:pathLst>
              <a:path w="2585148" h="767866">
                <a:moveTo>
                  <a:pt x="0" y="0"/>
                </a:moveTo>
                <a:lnTo>
                  <a:pt x="2585148" y="0"/>
                </a:lnTo>
                <a:lnTo>
                  <a:pt x="2585148" y="767866"/>
                </a:lnTo>
                <a:lnTo>
                  <a:pt x="0" y="7678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8884" y="5375059"/>
            <a:ext cx="2516893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6x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21543" y="5716333"/>
            <a:ext cx="24315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Layer-wise Speedup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86277" y="5264146"/>
            <a:ext cx="2585148" cy="767866"/>
          </a:xfrm>
          <a:custGeom>
            <a:avLst/>
            <a:gdLst/>
            <a:ahLst/>
            <a:cxnLst/>
            <a:rect l="l" t="t" r="r" b="b"/>
            <a:pathLst>
              <a:path w="2585148" h="767866">
                <a:moveTo>
                  <a:pt x="0" y="0"/>
                </a:moveTo>
                <a:lnTo>
                  <a:pt x="2585148" y="0"/>
                </a:lnTo>
                <a:lnTo>
                  <a:pt x="2585148" y="767866"/>
                </a:lnTo>
                <a:lnTo>
                  <a:pt x="0" y="76786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20404" y="5375059"/>
            <a:ext cx="2516893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418" b="1" dirty="0">
                <a:solidFill>
                  <a:srgbClr val="29ADFF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4x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63063" y="5716333"/>
            <a:ext cx="243157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End-to-End Speedup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58337" y="6364753"/>
            <a:ext cx="11475325" cy="477783"/>
          </a:xfrm>
          <a:custGeom>
            <a:avLst/>
            <a:gdLst/>
            <a:ahLst/>
            <a:cxnLst/>
            <a:rect l="l" t="t" r="r" b="b"/>
            <a:pathLst>
              <a:path w="11475325" h="477783">
                <a:moveTo>
                  <a:pt x="0" y="0"/>
                </a:moveTo>
                <a:lnTo>
                  <a:pt x="11475325" y="0"/>
                </a:lnTo>
                <a:lnTo>
                  <a:pt x="11475325" y="477783"/>
                </a:lnTo>
                <a:lnTo>
                  <a:pt x="0" y="477783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4127" dir="2700000">
              <a:srgbClr val="000000">
                <a:alpha val="10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39390" y="6484199"/>
            <a:ext cx="1131322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9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QuTLASS Kernel Suite:</a:t>
            </a:r>
            <a:pPr algn="ctr">
              <a:lnSpc>
                <a:spcPct val="130000"/>
              </a:lnSpc>
            </a:pPr>
            <a:r>
              <a:rPr lang="en-US" sz="1209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Fuses Hadamard rotation with dequantization &amp; matrix multiplication for maximum efficiency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17500" y="317500"/>
            <a:ext cx="500063" cy="349250"/>
          </a:xfrm>
          <a:custGeom>
            <a:avLst/>
            <a:gdLst/>
            <a:ahLst/>
            <a:cxnLst/>
            <a:rect l="l" t="t" r="r" b="b"/>
            <a:pathLst>
              <a:path w="500063" h="349250">
                <a:moveTo>
                  <a:pt x="0" y="0"/>
                </a:moveTo>
                <a:lnTo>
                  <a:pt x="500063" y="0"/>
                </a:lnTo>
                <a:lnTo>
                  <a:pt x="500063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17500" y="317500"/>
            <a:ext cx="579438" cy="3492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Why MR-GPTQ is Revolutionary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254125"/>
            <a:ext cx="5651500" cy="2055813"/>
          </a:xfrm>
          <a:custGeom>
            <a:avLst/>
            <a:gdLst/>
            <a:ahLst/>
            <a:cxnLst/>
            <a:rect l="l" t="t" r="r" b="b"/>
            <a:pathLst>
              <a:path w="5651500" h="2055813">
                <a:moveTo>
                  <a:pt x="0" y="0"/>
                </a:moveTo>
                <a:lnTo>
                  <a:pt x="5651500" y="0"/>
                </a:lnTo>
                <a:lnTo>
                  <a:pt x="5651500" y="2055813"/>
                </a:lnTo>
                <a:lnTo>
                  <a:pt x="0" y="2055813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800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Paradigm Shift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778000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MR-GPTQ represents a fundamental shift from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generic quantization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format-aware algorithm design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5938" y="2345531"/>
            <a:ext cx="5286375" cy="777875"/>
          </a:xfrm>
          <a:custGeom>
            <a:avLst/>
            <a:gdLst/>
            <a:ahLst/>
            <a:cxnLst/>
            <a:rect l="l" t="t" r="r" b="b"/>
            <a:pathLst>
              <a:path w="5286375" h="777875">
                <a:moveTo>
                  <a:pt x="0" y="0"/>
                </a:moveTo>
                <a:lnTo>
                  <a:pt x="5286375" y="0"/>
                </a:lnTo>
                <a:lnTo>
                  <a:pt x="5286375" y="777875"/>
                </a:lnTo>
                <a:lnTo>
                  <a:pt x="0" y="777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7375" y="2448719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Realization: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Transitioning from integer to floating-point quantization requires 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rethinking the entire pipeline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, not just swapping formats.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75" y="3464719"/>
            <a:ext cx="5651500" cy="3079750"/>
          </a:xfrm>
          <a:custGeom>
            <a:avLst/>
            <a:gdLst/>
            <a:ahLst/>
            <a:cxnLst/>
            <a:rect l="l" t="t" r="r" b="b"/>
            <a:pathLst>
              <a:path w="5651500" h="3079750">
                <a:moveTo>
                  <a:pt x="0" y="0"/>
                </a:moveTo>
                <a:lnTo>
                  <a:pt x="5651500" y="0"/>
                </a:lnTo>
                <a:lnTo>
                  <a:pt x="5651500" y="3079750"/>
                </a:lnTo>
                <a:lnTo>
                  <a:pt x="0" y="30797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000" y="3639344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Empirical Findings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5938" y="3996531"/>
            <a:ext cx="5286375" cy="841375"/>
          </a:xfrm>
          <a:custGeom>
            <a:avLst/>
            <a:gdLst/>
            <a:ahLst/>
            <a:cxnLst/>
            <a:rect l="l" t="t" r="r" b="b"/>
            <a:pathLst>
              <a:path w="5286375" h="841375">
                <a:moveTo>
                  <a:pt x="0" y="0"/>
                </a:moveTo>
                <a:lnTo>
                  <a:pt x="5286375" y="0"/>
                </a:lnTo>
                <a:lnTo>
                  <a:pt x="5286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125" y="4099719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NVFP4 vs MXFP4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125" y="4353719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NVFP4 consistently outperforms MXFP4 in baseline accuracy due to finer-grained scaling (group size 16 vs 32).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938" y="4949031"/>
            <a:ext cx="5286375" cy="650875"/>
          </a:xfrm>
          <a:custGeom>
            <a:avLst/>
            <a:gdLst/>
            <a:ahLst/>
            <a:cxnLst/>
            <a:rect l="l" t="t" r="r" b="b"/>
            <a:pathLst>
              <a:path w="5286375" h="650875">
                <a:moveTo>
                  <a:pt x="0" y="0"/>
                </a:moveTo>
                <a:lnTo>
                  <a:pt x="5286375" y="0"/>
                </a:lnTo>
                <a:lnTo>
                  <a:pt x="5286375" y="650875"/>
                </a:lnTo>
                <a:lnTo>
                  <a:pt x="0" y="650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125" y="5052219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MR-GPTQ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125" y="5306219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Narrows the gap significantly—brings MXFP4 within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1-2% of NVFP4 accuracy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5938" y="5711031"/>
            <a:ext cx="5286375" cy="650875"/>
          </a:xfrm>
          <a:custGeom>
            <a:avLst/>
            <a:gdLst/>
            <a:ahLst/>
            <a:cxnLst/>
            <a:rect l="l" t="t" r="r" b="b"/>
            <a:pathLst>
              <a:path w="5286375" h="650875">
                <a:moveTo>
                  <a:pt x="0" y="0"/>
                </a:moveTo>
                <a:lnTo>
                  <a:pt x="5286375" y="0"/>
                </a:lnTo>
                <a:lnTo>
                  <a:pt x="5286375" y="650875"/>
                </a:lnTo>
                <a:lnTo>
                  <a:pt x="0" y="650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125" y="5814219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Large Model Recovery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125" y="6068219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For 8B+ models, both formats recover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98-99% of FP16 baseline accuracy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7125" y="1254125"/>
            <a:ext cx="5651500" cy="3103563"/>
          </a:xfrm>
          <a:custGeom>
            <a:avLst/>
            <a:gdLst/>
            <a:ahLst/>
            <a:cxnLst/>
            <a:rect l="l" t="t" r="r" b="b"/>
            <a:pathLst>
              <a:path w="5651500" h="3103563">
                <a:moveTo>
                  <a:pt x="0" y="0"/>
                </a:moveTo>
                <a:lnTo>
                  <a:pt x="5651500" y="0"/>
                </a:lnTo>
                <a:lnTo>
                  <a:pt x="5651500" y="3103563"/>
                </a:lnTo>
                <a:lnTo>
                  <a:pt x="0" y="3103563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8175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Fundamental Limitations Discovered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9688" y="1785938"/>
            <a:ext cx="5286375" cy="841375"/>
          </a:xfrm>
          <a:custGeom>
            <a:avLst/>
            <a:gdLst/>
            <a:ahLst/>
            <a:cxnLst/>
            <a:rect l="l" t="t" r="r" b="b"/>
            <a:pathLst>
              <a:path w="5286375" h="841375">
                <a:moveTo>
                  <a:pt x="0" y="0"/>
                </a:moveTo>
                <a:lnTo>
                  <a:pt x="5286375" y="0"/>
                </a:lnTo>
                <a:lnTo>
                  <a:pt x="5286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875" y="18891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26" name="Text 24"/>
          <p:cNvSpPr/>
          <p:nvPr/>
        </p:nvSpPr>
        <p:spPr>
          <a:xfrm>
            <a:off x="6461125" y="18891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42125" y="1889125"/>
            <a:ext cx="4802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NVFP4's Small Group Size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42125" y="2143125"/>
            <a:ext cx="479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Group size of 16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neutralizes traditional outlier mitigation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like SmoothQuant—small groups naturally adapt to local variance.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9688" y="2738438"/>
            <a:ext cx="5286375" cy="650875"/>
          </a:xfrm>
          <a:custGeom>
            <a:avLst/>
            <a:gdLst/>
            <a:ahLst/>
            <a:cxnLst/>
            <a:rect l="l" t="t" r="r" b="b"/>
            <a:pathLst>
              <a:path w="5286375" h="650875">
                <a:moveTo>
                  <a:pt x="0" y="0"/>
                </a:moveTo>
                <a:lnTo>
                  <a:pt x="5286375" y="0"/>
                </a:lnTo>
                <a:lnTo>
                  <a:pt x="5286375" y="650875"/>
                </a:lnTo>
                <a:lnTo>
                  <a:pt x="0" y="650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875" y="284162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31" name="Text 29"/>
          <p:cNvSpPr/>
          <p:nvPr/>
        </p:nvSpPr>
        <p:spPr>
          <a:xfrm>
            <a:off x="6461125" y="2841625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2125" y="2841625"/>
            <a:ext cx="4540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MXFP4's Scale Quantization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42125" y="3095625"/>
            <a:ext cx="453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E8M0 power-of-two scales induce up to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40% additional MSE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—the primary accuracy bottleneck.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89688" y="3500438"/>
            <a:ext cx="5286375" cy="650875"/>
          </a:xfrm>
          <a:custGeom>
            <a:avLst/>
            <a:gdLst/>
            <a:ahLst/>
            <a:cxnLst/>
            <a:rect l="l" t="t" r="r" b="b"/>
            <a:pathLst>
              <a:path w="5286375" h="650875">
                <a:moveTo>
                  <a:pt x="0" y="0"/>
                </a:moveTo>
                <a:lnTo>
                  <a:pt x="5286375" y="0"/>
                </a:lnTo>
                <a:lnTo>
                  <a:pt x="5286375" y="650875"/>
                </a:lnTo>
                <a:lnTo>
                  <a:pt x="0" y="650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875" y="3603625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92875" y="3857625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Scale-fitting modification recovered 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2-6.5% accuracy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by optimizing scale exponent range.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07125" y="4512469"/>
            <a:ext cx="5651500" cy="2032000"/>
          </a:xfrm>
          <a:custGeom>
            <a:avLst/>
            <a:gdLst/>
            <a:ahLst/>
            <a:cxnLst/>
            <a:rect l="l" t="t" r="r" b="b"/>
            <a:pathLst>
              <a:path w="5651500" h="2032000">
                <a:moveTo>
                  <a:pt x="0" y="0"/>
                </a:moveTo>
                <a:lnTo>
                  <a:pt x="5651500" y="0"/>
                </a:lnTo>
                <a:lnTo>
                  <a:pt x="56515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42063" y="4687094"/>
            <a:ext cx="5381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Broader Implications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9688" y="5012531"/>
            <a:ext cx="2587625" cy="619125"/>
          </a:xfrm>
          <a:custGeom>
            <a:avLst/>
            <a:gdLst/>
            <a:ahLst/>
            <a:cxnLst/>
            <a:rect l="l" t="t" r="r" b="b"/>
            <a:pathLst>
              <a:path w="2587625" h="619125">
                <a:moveTo>
                  <a:pt x="0" y="0"/>
                </a:moveTo>
                <a:lnTo>
                  <a:pt x="2587625" y="0"/>
                </a:lnTo>
                <a:lnTo>
                  <a:pt x="2587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1125" y="5115719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Beyond Language Models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7156" y="5306219"/>
            <a:ext cx="245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Vision Transformers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88438" y="5012531"/>
            <a:ext cx="2587625" cy="619125"/>
          </a:xfrm>
          <a:custGeom>
            <a:avLst/>
            <a:gdLst/>
            <a:ahLst/>
            <a:cxnLst/>
            <a:rect l="l" t="t" r="r" b="b"/>
            <a:pathLst>
              <a:path w="2587625" h="619125">
                <a:moveTo>
                  <a:pt x="0" y="0"/>
                </a:moveTo>
                <a:lnTo>
                  <a:pt x="2587625" y="0"/>
                </a:lnTo>
                <a:lnTo>
                  <a:pt x="2587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59875" y="5115719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Beyond Language Models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55906" y="5306219"/>
            <a:ext cx="245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Multimodal Models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9688" y="5742781"/>
            <a:ext cx="2587625" cy="619125"/>
          </a:xfrm>
          <a:custGeom>
            <a:avLst/>
            <a:gdLst/>
            <a:ahLst/>
            <a:cxnLst/>
            <a:rect l="l" t="t" r="r" b="b"/>
            <a:pathLst>
              <a:path w="2587625" h="619125">
                <a:moveTo>
                  <a:pt x="0" y="0"/>
                </a:moveTo>
                <a:lnTo>
                  <a:pt x="2587625" y="0"/>
                </a:lnTo>
                <a:lnTo>
                  <a:pt x="2587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1125" y="5845969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Beyond Language Models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57156" y="6036469"/>
            <a:ext cx="245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Edge Deployment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88438" y="5742781"/>
            <a:ext cx="2587625" cy="619125"/>
          </a:xfrm>
          <a:custGeom>
            <a:avLst/>
            <a:gdLst/>
            <a:ahLst/>
            <a:cxnLst/>
            <a:rect l="l" t="t" r="r" b="b"/>
            <a:pathLst>
              <a:path w="2587625" h="619125">
                <a:moveTo>
                  <a:pt x="0" y="0"/>
                </a:moveTo>
                <a:lnTo>
                  <a:pt x="2587625" y="0"/>
                </a:lnTo>
                <a:lnTo>
                  <a:pt x="258762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59875" y="5845969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Beyond Language Models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55906" y="6036469"/>
            <a:ext cx="245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Robotics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17500" y="317500"/>
            <a:ext cx="1016000" cy="349250"/>
          </a:xfrm>
          <a:custGeom>
            <a:avLst/>
            <a:gdLst/>
            <a:ahLst/>
            <a:cxnLst/>
            <a:rect l="l" t="t" r="r" b="b"/>
            <a:pathLst>
              <a:path w="1016000" h="349250">
                <a:moveTo>
                  <a:pt x="0" y="0"/>
                </a:moveTo>
                <a:lnTo>
                  <a:pt x="1016000" y="0"/>
                </a:lnTo>
                <a:lnTo>
                  <a:pt x="10160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4" name="Text 2"/>
          <p:cNvSpPr/>
          <p:nvPr/>
        </p:nvSpPr>
        <p:spPr>
          <a:xfrm>
            <a:off x="317500" y="317500"/>
            <a:ext cx="1095375" cy="3492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93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Edge Deployment &amp; Real-World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375" y="1254125"/>
            <a:ext cx="5651500" cy="2921000"/>
          </a:xfrm>
          <a:custGeom>
            <a:avLst/>
            <a:gdLst/>
            <a:ahLst/>
            <a:cxnLst/>
            <a:rect l="l" t="t" r="r" b="b"/>
            <a:pathLst>
              <a:path w="5651500" h="2921000">
                <a:moveTo>
                  <a:pt x="0" y="0"/>
                </a:moveTo>
                <a:lnTo>
                  <a:pt x="5651500" y="0"/>
                </a:lnTo>
                <a:lnTo>
                  <a:pt x="5651500" y="2921000"/>
                </a:lnTo>
                <a:lnTo>
                  <a:pt x="0" y="29210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800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Hardware Platform Spectrum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5938" y="17859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75" y="1857375"/>
            <a:ext cx="746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ESP32-S3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7375" y="2047875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512KB SRAM, INT8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14528" y="1936750"/>
            <a:ext cx="412750" cy="190500"/>
          </a:xfrm>
          <a:custGeom>
            <a:avLst/>
            <a:gdLst/>
            <a:ahLst/>
            <a:cxnLst/>
            <a:rect l="l" t="t" r="r" b="b"/>
            <a:pathLst>
              <a:path w="412750" h="190500">
                <a:moveTo>
                  <a:pt x="0" y="0"/>
                </a:moveTo>
                <a:lnTo>
                  <a:pt x="412750" y="0"/>
                </a:lnTo>
                <a:lnTo>
                  <a:pt x="4127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2" name="Text 10"/>
          <p:cNvSpPr/>
          <p:nvPr/>
        </p:nvSpPr>
        <p:spPr>
          <a:xfrm>
            <a:off x="5314528" y="1936750"/>
            <a:ext cx="460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~240mW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5938" y="23574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375" y="2428875"/>
            <a:ext cx="801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STM32H7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375" y="2619375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1MB SRAM, INT8/FP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4528" y="2508250"/>
            <a:ext cx="412750" cy="190500"/>
          </a:xfrm>
          <a:custGeom>
            <a:avLst/>
            <a:gdLst/>
            <a:ahLst/>
            <a:cxnLst/>
            <a:rect l="l" t="t" r="r" b="b"/>
            <a:pathLst>
              <a:path w="412750" h="190500">
                <a:moveTo>
                  <a:pt x="0" y="0"/>
                </a:moveTo>
                <a:lnTo>
                  <a:pt x="412750" y="0"/>
                </a:lnTo>
                <a:lnTo>
                  <a:pt x="4127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17" name="Text 15"/>
          <p:cNvSpPr/>
          <p:nvPr/>
        </p:nvSpPr>
        <p:spPr>
          <a:xfrm>
            <a:off x="5314528" y="2508250"/>
            <a:ext cx="460375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~300mW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5938" y="29289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375" y="3000375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Mobile NPU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7375" y="3190875"/>
            <a:ext cx="936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6-12GB RAM, INT8/INT4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38056" y="3079750"/>
            <a:ext cx="293688" cy="190500"/>
          </a:xfrm>
          <a:custGeom>
            <a:avLst/>
            <a:gdLst/>
            <a:ahLst/>
            <a:cxnLst/>
            <a:rect l="l" t="t" r="r" b="b"/>
            <a:pathLst>
              <a:path w="293688" h="190500">
                <a:moveTo>
                  <a:pt x="0" y="0"/>
                </a:moveTo>
                <a:lnTo>
                  <a:pt x="293688" y="0"/>
                </a:lnTo>
                <a:lnTo>
                  <a:pt x="293688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20"/>
          <p:cNvSpPr/>
          <p:nvPr/>
        </p:nvSpPr>
        <p:spPr>
          <a:xfrm>
            <a:off x="5438056" y="3079750"/>
            <a:ext cx="3413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1-3W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5938" y="35004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375" y="3571875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Jetson Orin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7375" y="3762375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8-64GB RAM, INT8/FP16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60417" y="3651250"/>
            <a:ext cx="373063" cy="190500"/>
          </a:xfrm>
          <a:custGeom>
            <a:avLst/>
            <a:gdLst/>
            <a:ahLst/>
            <a:cxnLst/>
            <a:rect l="l" t="t" r="r" b="b"/>
            <a:pathLst>
              <a:path w="373063" h="190500">
                <a:moveTo>
                  <a:pt x="0" y="0"/>
                </a:moveTo>
                <a:lnTo>
                  <a:pt x="373063" y="0"/>
                </a:lnTo>
                <a:lnTo>
                  <a:pt x="373063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7" name="Text 25"/>
          <p:cNvSpPr/>
          <p:nvPr/>
        </p:nvSpPr>
        <p:spPr>
          <a:xfrm>
            <a:off x="5360417" y="3651250"/>
            <a:ext cx="420688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15-60W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375" y="4333875"/>
            <a:ext cx="5651500" cy="2349500"/>
          </a:xfrm>
          <a:custGeom>
            <a:avLst/>
            <a:gdLst/>
            <a:ahLst/>
            <a:cxnLst/>
            <a:rect l="l" t="t" r="r" b="b"/>
            <a:pathLst>
              <a:path w="5651500" h="2349500">
                <a:moveTo>
                  <a:pt x="0" y="0"/>
                </a:moveTo>
                <a:lnTo>
                  <a:pt x="5651500" y="0"/>
                </a:lnTo>
                <a:lnTo>
                  <a:pt x="5651500" y="2349500"/>
                </a:lnTo>
                <a:lnTo>
                  <a:pt x="0" y="23495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8000" y="4508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FP4 Emulation Strategies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5938" y="486568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375" y="49371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 Dequantize-and-Compute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375" y="5127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Store in FP4, dequantize to INT8/FP16 before matrix multiply. Overhead is free for memory-bound inference.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5938" y="543718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375" y="55086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2. INT4 Emulation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7375" y="56991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Map FP4 values to INT4 containers with appropriate scaling for mobile NPU hardware.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5938" y="600868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375" y="60801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3. Lookup-Table (LUT)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7375" y="6270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Precompute all 256 pairwise products in 16×16 table. Fits in L1 cache on microcontrollers.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7125" y="1254125"/>
            <a:ext cx="5651500" cy="3333750"/>
          </a:xfrm>
          <a:custGeom>
            <a:avLst/>
            <a:gdLst/>
            <a:ahLst/>
            <a:cxnLst/>
            <a:rect l="l" t="t" r="r" b="b"/>
            <a:pathLst>
              <a:path w="5651500" h="3333750">
                <a:moveTo>
                  <a:pt x="0" y="0"/>
                </a:moveTo>
                <a:lnTo>
                  <a:pt x="5651500" y="0"/>
                </a:lnTo>
                <a:lnTo>
                  <a:pt x="565150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8175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Software Frameworks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89688" y="17859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1125" y="18573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TensorFlow Lite Micro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61125" y="20478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INT8 on Cortex-M microcontrollers with automatic operator fusion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89688" y="23574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1125" y="24288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ONNX Runtime Mobile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61125" y="26193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Cross-platform inference with INT4 support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9688" y="2928938"/>
            <a:ext cx="5286375" cy="492125"/>
          </a:xfrm>
          <a:custGeom>
            <a:avLst/>
            <a:gdLst/>
            <a:ahLst/>
            <a:cxnLst/>
            <a:rect l="l" t="t" r="r" b="b"/>
            <a:pathLst>
              <a:path w="5286375" h="492125">
                <a:moveTo>
                  <a:pt x="0" y="0"/>
                </a:moveTo>
                <a:lnTo>
                  <a:pt x="5286375" y="0"/>
                </a:lnTo>
                <a:lnTo>
                  <a:pt x="5286375" y="492125"/>
                </a:lnTo>
                <a:lnTo>
                  <a:pt x="0" y="492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FFCD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61125" y="30003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llama.cpp / Ollama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61125" y="31908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Democratized on-device LLM deployment on consumer hardware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07125" y="4746625"/>
            <a:ext cx="5651500" cy="1936750"/>
          </a:xfrm>
          <a:custGeom>
            <a:avLst/>
            <a:gdLst/>
            <a:ahLst/>
            <a:cxnLst/>
            <a:rect l="l" t="t" r="r" b="b"/>
            <a:pathLst>
              <a:path w="5651500" h="1936750">
                <a:moveTo>
                  <a:pt x="0" y="0"/>
                </a:moveTo>
                <a:lnTo>
                  <a:pt x="5651500" y="0"/>
                </a:lnTo>
                <a:lnTo>
                  <a:pt x="5651500" y="1936750"/>
                </a:lnTo>
                <a:lnTo>
                  <a:pt x="0" y="19367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81750" y="49212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Compelling Use Case: Agricultural Monitoring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9688" y="5278438"/>
            <a:ext cx="5286375" cy="619125"/>
          </a:xfrm>
          <a:custGeom>
            <a:avLst/>
            <a:gdLst/>
            <a:ahLst/>
            <a:cxnLst/>
            <a:rect l="l" t="t" r="r" b="b"/>
            <a:pathLst>
              <a:path w="5286375" h="619125">
                <a:moveTo>
                  <a:pt x="0" y="0"/>
                </a:moveTo>
                <a:lnTo>
                  <a:pt x="5286375" y="0"/>
                </a:lnTo>
                <a:lnTo>
                  <a:pt x="5286375" y="619125"/>
                </a:lnTo>
                <a:lnTo>
                  <a:pt x="0" y="6191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875" y="5381625"/>
            <a:ext cx="5143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Edge-quantized vision transformers for 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multi-crop health monitoring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in developing regions where agronomists are scarce but smartphones are widely available.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81750" y="6000750"/>
            <a:ext cx="2603500" cy="508000"/>
          </a:xfrm>
          <a:custGeom>
            <a:avLst/>
            <a:gdLst/>
            <a:ahLst/>
            <a:cxnLst/>
            <a:rect l="l" t="t" r="r" b="b"/>
            <a:pathLst>
              <a:path w="2603500" h="508000">
                <a:moveTo>
                  <a:pt x="0" y="0"/>
                </a:moveTo>
                <a:lnTo>
                  <a:pt x="2603500" y="0"/>
                </a:lnTo>
                <a:lnTo>
                  <a:pt x="260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55" name="Text 53"/>
          <p:cNvSpPr/>
          <p:nvPr/>
        </p:nvSpPr>
        <p:spPr>
          <a:xfrm>
            <a:off x="6397625" y="6064250"/>
            <a:ext cx="257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Sub-1M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21438" y="6318250"/>
            <a:ext cx="2524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Parameter Model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80500" y="6000750"/>
            <a:ext cx="2603500" cy="508000"/>
          </a:xfrm>
          <a:custGeom>
            <a:avLst/>
            <a:gdLst/>
            <a:ahLst/>
            <a:cxnLst/>
            <a:rect l="l" t="t" r="r" b="b"/>
            <a:pathLst>
              <a:path w="2603500" h="508000">
                <a:moveTo>
                  <a:pt x="0" y="0"/>
                </a:moveTo>
                <a:lnTo>
                  <a:pt x="2603500" y="0"/>
                </a:lnTo>
                <a:lnTo>
                  <a:pt x="26035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29ADFF"/>
          </a:solidFill>
          <a:ln/>
        </p:spPr>
      </p:sp>
      <p:sp>
        <p:nvSpPr>
          <p:cNvPr id="58" name="Text 56"/>
          <p:cNvSpPr/>
          <p:nvPr/>
        </p:nvSpPr>
        <p:spPr>
          <a:xfrm>
            <a:off x="9096375" y="6064250"/>
            <a:ext cx="257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FP4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20188" y="6318250"/>
            <a:ext cx="2524125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Quantization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k.imagekit.io/1ad6f110dcfeda6f710466ae1af3974742a990a0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15000"/>
                </a:srgbClr>
              </a:gs>
              <a:gs pos="20000">
                <a:srgbClr val="000000">
                  <a:alpha val="0"/>
                </a:srgbClr>
              </a:gs>
              <a:gs pos="33333.333333333336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17500" y="317500"/>
            <a:ext cx="920750" cy="349250"/>
          </a:xfrm>
          <a:custGeom>
            <a:avLst/>
            <a:gdLst/>
            <a:ahLst/>
            <a:cxnLst/>
            <a:rect l="l" t="t" r="r" b="b"/>
            <a:pathLst>
              <a:path w="920750" h="349250">
                <a:moveTo>
                  <a:pt x="0" y="0"/>
                </a:moveTo>
                <a:lnTo>
                  <a:pt x="920750" y="0"/>
                </a:lnTo>
                <a:lnTo>
                  <a:pt x="92075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</p:spPr>
      </p:sp>
      <p:sp>
        <p:nvSpPr>
          <p:cNvPr id="5" name="Text 2"/>
          <p:cNvSpPr/>
          <p:nvPr/>
        </p:nvSpPr>
        <p:spPr>
          <a:xfrm>
            <a:off x="317500" y="317500"/>
            <a:ext cx="1000125" cy="349250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17500" y="793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Key Takeaways &amp; Future Directions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3375" y="1254125"/>
            <a:ext cx="5651500" cy="2222500"/>
          </a:xfrm>
          <a:custGeom>
            <a:avLst/>
            <a:gdLst/>
            <a:ahLst/>
            <a:cxnLst/>
            <a:rect l="l" t="t" r="r" b="b"/>
            <a:pathLst>
              <a:path w="5651500" h="2222500">
                <a:moveTo>
                  <a:pt x="0" y="0"/>
                </a:moveTo>
                <a:lnTo>
                  <a:pt x="5651500" y="0"/>
                </a:lnTo>
                <a:lnTo>
                  <a:pt x="5651500" y="2222500"/>
                </a:lnTo>
                <a:lnTo>
                  <a:pt x="0" y="22225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800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What We've Learned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177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0" name="Text 7"/>
          <p:cNvSpPr/>
          <p:nvPr/>
        </p:nvSpPr>
        <p:spPr>
          <a:xfrm>
            <a:off x="476250" y="1778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7250" y="1778000"/>
            <a:ext cx="415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Quantization reduces precision from 32-bit to 4-bit while preserving network topology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8000" y="2095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3" name="Text 10"/>
          <p:cNvSpPr/>
          <p:nvPr/>
        </p:nvSpPr>
        <p:spPr>
          <a:xfrm>
            <a:off x="476250" y="2095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7250" y="2095500"/>
            <a:ext cx="350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PTQ (fast, no retraining) and QAT (higher accuracy) serve different needs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8000" y="241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6" name="Text 13"/>
          <p:cNvSpPr/>
          <p:nvPr/>
        </p:nvSpPr>
        <p:spPr>
          <a:xfrm>
            <a:off x="476250" y="2413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7250" y="2413000"/>
            <a:ext cx="38338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MR-GPTQ enables 6x speedups with 98-99% accuracy recovery for large models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8000" y="2730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19" name="Text 16"/>
          <p:cNvSpPr/>
          <p:nvPr/>
        </p:nvSpPr>
        <p:spPr>
          <a:xfrm>
            <a:off x="476250" y="2730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7250" y="2730500"/>
            <a:ext cx="337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FP4 is a new design primitive requiring format-aware algorithm design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8000" y="304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A7F070"/>
          </a:solidFill>
          <a:ln/>
        </p:spPr>
      </p:sp>
      <p:sp>
        <p:nvSpPr>
          <p:cNvPr id="22" name="Text 19"/>
          <p:cNvSpPr/>
          <p:nvPr/>
        </p:nvSpPr>
        <p:spPr>
          <a:xfrm>
            <a:off x="476250" y="3048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7250" y="3048000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Edge deployment spans microcontrollers to embedded GPUs with multiple emulation strategies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33375" y="3635375"/>
            <a:ext cx="5651500" cy="2444750"/>
          </a:xfrm>
          <a:custGeom>
            <a:avLst/>
            <a:gdLst/>
            <a:ahLst/>
            <a:cxnLst/>
            <a:rect l="l" t="t" r="r" b="b"/>
            <a:pathLst>
              <a:path w="5651500" h="2444750">
                <a:moveTo>
                  <a:pt x="0" y="0"/>
                </a:moveTo>
                <a:lnTo>
                  <a:pt x="5651500" y="0"/>
                </a:lnTo>
                <a:lnTo>
                  <a:pt x="5651500" y="2444750"/>
                </a:lnTo>
                <a:lnTo>
                  <a:pt x="0" y="24447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A7F07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8000" y="38100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Big Picture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08000" y="4159250"/>
            <a:ext cx="53736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The convergence of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aggressive sub-4-bit quantization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increasingly capable edge hardware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creates unprecedented opportunities for deploying sophisticated AI in resource-constrained environments.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5938" y="4958953"/>
            <a:ext cx="5286375" cy="587375"/>
          </a:xfrm>
          <a:custGeom>
            <a:avLst/>
            <a:gdLst/>
            <a:ahLst/>
            <a:cxnLst/>
            <a:rect l="l" t="t" r="r" b="b"/>
            <a:pathLst>
              <a:path w="5286375" h="587375">
                <a:moveTo>
                  <a:pt x="0" y="0"/>
                </a:moveTo>
                <a:lnTo>
                  <a:pt x="5286375" y="0"/>
                </a:lnTo>
                <a:lnTo>
                  <a:pt x="5286375" y="587375"/>
                </a:lnTo>
                <a:lnTo>
                  <a:pt x="0" y="587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7375" y="5062141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From simple round-to-nearest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to </a:t>
            </a:r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sophisticated format-specialized algorithms</a:t>
            </a:r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with second-order error compensation, distribution-aware rotations, and MSE-optimized grids.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07125" y="1254125"/>
            <a:ext cx="5651500" cy="3048000"/>
          </a:xfrm>
          <a:custGeom>
            <a:avLst/>
            <a:gdLst/>
            <a:ahLst/>
            <a:cxnLst/>
            <a:rect l="l" t="t" r="r" b="b"/>
            <a:pathLst>
              <a:path w="5651500" h="3048000">
                <a:moveTo>
                  <a:pt x="0" y="0"/>
                </a:moveTo>
                <a:lnTo>
                  <a:pt x="5651500" y="0"/>
                </a:lnTo>
                <a:lnTo>
                  <a:pt x="56515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29ADFF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81750" y="142875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Open Research Gaps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89688" y="1785938"/>
            <a:ext cx="5286375" cy="523875"/>
          </a:xfrm>
          <a:custGeom>
            <a:avLst/>
            <a:gdLst/>
            <a:ahLst/>
            <a:cxnLst/>
            <a:rect l="l" t="t" r="r" b="b"/>
            <a:pathLst>
              <a:path w="5286375" h="523875">
                <a:moveTo>
                  <a:pt x="0" y="0"/>
                </a:moveTo>
                <a:lnTo>
                  <a:pt x="5286375" y="0"/>
                </a:lnTo>
                <a:lnTo>
                  <a:pt x="5286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61125" y="18573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1. Vision Transformers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61125" y="20796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Extend FP4 quantization to ViTs and vision-language models with spatially-aware activation reordering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89688" y="2389188"/>
            <a:ext cx="5286375" cy="523875"/>
          </a:xfrm>
          <a:custGeom>
            <a:avLst/>
            <a:gdLst/>
            <a:ahLst/>
            <a:cxnLst/>
            <a:rect l="l" t="t" r="r" b="b"/>
            <a:pathLst>
              <a:path w="5286375" h="523875">
                <a:moveTo>
                  <a:pt x="0" y="0"/>
                </a:moveTo>
                <a:lnTo>
                  <a:pt x="5286375" y="0"/>
                </a:lnTo>
                <a:lnTo>
                  <a:pt x="5286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61125" y="24606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2. Hybrid INT/FP Schemes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61125" y="26828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Per-layer format selection using FP4 for heavy-tailed distributions, INT4 for uniform distributions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89688" y="2992438"/>
            <a:ext cx="5286375" cy="523875"/>
          </a:xfrm>
          <a:custGeom>
            <a:avLst/>
            <a:gdLst/>
            <a:ahLst/>
            <a:cxnLst/>
            <a:rect l="l" t="t" r="r" b="b"/>
            <a:pathLst>
              <a:path w="5286375" h="523875">
                <a:moveTo>
                  <a:pt x="0" y="0"/>
                </a:moveTo>
                <a:lnTo>
                  <a:pt x="5286375" y="0"/>
                </a:lnTo>
                <a:lnTo>
                  <a:pt x="5286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61125" y="306387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3. Agricultural Applications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61125" y="328612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Combine FP4 with vision transformers for multi-crop health monitoring in developing regions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89688" y="3595688"/>
            <a:ext cx="5286375" cy="523875"/>
          </a:xfrm>
          <a:custGeom>
            <a:avLst/>
            <a:gdLst/>
            <a:ahLst/>
            <a:cxnLst/>
            <a:rect l="l" t="t" r="r" b="b"/>
            <a:pathLst>
              <a:path w="5286375" h="523875">
                <a:moveTo>
                  <a:pt x="0" y="0"/>
                </a:moveTo>
                <a:lnTo>
                  <a:pt x="5286375" y="0"/>
                </a:lnTo>
                <a:lnTo>
                  <a:pt x="5286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29AD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61125" y="3667125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4. Standardized Benchmarks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61125" y="3889375"/>
            <a:ext cx="519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Lack of benchmarks across full edge hardware spectrum hinders reproducible comparison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207125" y="4460875"/>
            <a:ext cx="5651500" cy="1619250"/>
          </a:xfrm>
          <a:custGeom>
            <a:avLst/>
            <a:gdLst/>
            <a:ahLst/>
            <a:cxnLst/>
            <a:rect l="l" t="t" r="r" b="b"/>
            <a:pathLst>
              <a:path w="5651500" h="1619250">
                <a:moveTo>
                  <a:pt x="0" y="0"/>
                </a:moveTo>
                <a:lnTo>
                  <a:pt x="5651500" y="0"/>
                </a:lnTo>
                <a:lnTo>
                  <a:pt x="565150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solidFill>
            <a:srgbClr val="1A1C2C"/>
          </a:solidFill>
          <a:ln w="50800">
            <a:solidFill>
              <a:srgbClr val="FFCD75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6334125" y="4635500"/>
            <a:ext cx="539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Future Vision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89688" y="4992688"/>
            <a:ext cx="5286375" cy="904875"/>
          </a:xfrm>
          <a:custGeom>
            <a:avLst/>
            <a:gdLst/>
            <a:ahLst/>
            <a:cxnLst/>
            <a:rect l="l" t="t" r="r" b="b"/>
            <a:pathLst>
              <a:path w="5286375" h="904875">
                <a:moveTo>
                  <a:pt x="0" y="0"/>
                </a:moveTo>
                <a:lnTo>
                  <a:pt x="5286375" y="0"/>
                </a:lnTo>
                <a:lnTo>
                  <a:pt x="5286375" y="904875"/>
                </a:lnTo>
                <a:lnTo>
                  <a:pt x="0" y="904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5400">
            <a:solidFill>
              <a:srgbClr val="A7F07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57156" y="5095875"/>
            <a:ext cx="515143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Extending FP4 quantization to </a:t>
            </a:r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A7F070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vision transformers</a:t>
            </a:r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and </a:t>
            </a:r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FFCD75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vision-language models</a:t>
            </a:r>
            <a:pPr algn="ctr">
              <a:lnSpc>
                <a:spcPct val="140000"/>
              </a:lnSpc>
            </a:pPr>
            <a:r>
              <a:rPr lang="en-US" sz="1125" dirty="0">
                <a:solidFill>
                  <a:srgbClr val="F4F4F4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 for practical applications like agricultural monitoring and robotics will be essential to realize the full potential of edge AI.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222875" y="6221016"/>
            <a:ext cx="1746250" cy="666750"/>
          </a:xfrm>
          <a:custGeom>
            <a:avLst/>
            <a:gdLst/>
            <a:ahLst/>
            <a:cxnLst/>
            <a:rect l="l" t="t" r="r" b="b"/>
            <a:pathLst>
              <a:path w="1746250" h="666750">
                <a:moveTo>
                  <a:pt x="0" y="0"/>
                </a:moveTo>
                <a:lnTo>
                  <a:pt x="1746250" y="0"/>
                </a:lnTo>
                <a:lnTo>
                  <a:pt x="17462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FCD75"/>
          </a:solidFill>
          <a:ln/>
          <a:effectLst>
            <a:outerShdw sx="100000" sy="100000" kx="0" ky="0" algn="bl" rotWithShape="0" blurRad="101600" dist="31750" dir="2700000">
              <a:srgbClr val="ffcd75">
                <a:alpha val="10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429250" y="6316266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Thank You!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441156" y="6570266"/>
            <a:ext cx="130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1A1C2C"/>
                </a:solidFill>
                <a:latin typeface="Jersey 15" pitchFamily="34" charset="0"/>
                <a:ea typeface="Jersey 15" pitchFamily="34" charset="-122"/>
                <a:cs typeface="Jersey 15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Quantization, MR-GPTQ, and Edge Deployment</dc:title>
  <dc:subject>Neural Network Quantization, MR-GPTQ, and Edge Deployment</dc:subject>
  <dc:creator>Kimi</dc:creator>
  <cp:lastModifiedBy>Kimi</cp:lastModifiedBy>
  <cp:revision>1</cp:revision>
  <dcterms:created xsi:type="dcterms:W3CDTF">2026-03-03T17:37:52Z</dcterms:created>
  <dcterms:modified xsi:type="dcterms:W3CDTF">2026-03-03T17:37:52Z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{"Label":"Neural Network Quantization, MR-GPTQ, and Edge Deployment","ContentProducer":"001191110108MACG2KBH8F10000","ProduceID":"19cb4c31-b9d2-867d-8000-000027323871","ReservedCode1":"","ContentPropagator":"001191110108MACG2KBH8F20000","PropagateID":"19cb4c31-b9d2-867d-8000-000027323871","ReservedCode2":""}</vt:lpwstr>
  </property>
</Properties>
</file>